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imo Bold" charset="1" panose="020B0704020202020204"/>
      <p:regular r:id="rId28"/>
    </p:embeddedFont>
    <p:embeddedFont>
      <p:font typeface="Inter" charset="1" panose="020B0502030000000004"/>
      <p:regular r:id="rId29"/>
    </p:embeddedFont>
    <p:embeddedFont>
      <p:font typeface="Arimo" charset="1" panose="020B0604020202020204"/>
      <p:regular r:id="rId31"/>
    </p:embeddedFont>
    <p:embeddedFont>
      <p:font typeface="Inter Bold" charset="1" panose="020B08020300000000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fonts/font38.fntdata" Type="http://schemas.openxmlformats.org/officeDocument/2006/relationships/font"/><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根据原数据集中query的特性，我们分了长中短三种长度标准和强弱两种证据强度，评测集采用六格分层抽样，一共采集了120条样本。我们的测评对象主要分两大类，一类是历史baseline，一共有6个；同时为了对比我们生成的广告文案与原数据集中的商品标题的表现效果，我们将处理过程中召回的top1商品的标题属性也纳入评测对象中</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我们的评测主要围绕相关性、文案表达质量、真实性与系统稳定性几个维度。相关性上选取得指标为BERTScore_query和BERTScore_intent，分别衡量文案与 query、文案与意图摘要 的语义相似度</a:t>
            </a:r>
          </a:p>
          <a:p>
            <a:r>
              <a:rPr lang="en-US"/>
              <a:t>文案表达质量是我们此次研究着重优化得维度，选区的指标有TTR词汇丰富度、营销分、重复率和query覆盖率，其中TTR是重点考察的指标。</a:t>
            </a:r>
          </a:p>
          <a:p>
            <a:r>
              <a:rPr lang="en-US"/>
              <a:t/>
            </a:r>
          </a:p>
          <a:p>
            <a:r>
              <a:rPr lang="en-US"/>
              <a:t>同时我们还会对6组baseline生成的文案进行真实性与系统状态得评测，指标有 BERTScore_evidence文案与召回证据的语义相似度，以及fallback 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这是我们的核心评测数据，由表可以看出：</a:t>
            </a:r>
          </a:p>
          <a:p>
            <a:r>
              <a:rPr lang="en-US"/>
              <a:t>在稳定性上：deepseek_chat fallback 为 0%，而后三个都不为零，故其表现数据不予以对比。</a:t>
            </a:r>
          </a:p>
          <a:p>
            <a:r>
              <a:rPr lang="en-US"/>
              <a:t/>
            </a:r>
          </a:p>
          <a:p>
            <a:r>
              <a:rPr lang="en-US"/>
              <a:t>语义相关性上：BERTScore_query 上，原标题 top1 最高（0.68），template 次之（0.67），deepseek 略低（0.65），差距不大。</a:t>
            </a:r>
          </a:p>
          <a:p>
            <a:r>
              <a:rPr lang="en-US"/>
              <a:t/>
            </a:r>
          </a:p>
          <a:p>
            <a:r>
              <a:rPr lang="en-US"/>
              <a:t>意图匹配：原标题 top1 的 BERTScore_intent 也是 0.61，deepseek 0.59，非常接近。</a:t>
            </a:r>
          </a:p>
          <a:p>
            <a:r>
              <a:rPr lang="en-US"/>
              <a:t/>
            </a:r>
          </a:p>
          <a:p>
            <a:r>
              <a:rPr lang="en-US"/>
              <a:t>真实性/证据匹配：template 最高（0.79），因为直接复述标题；deepseek 0.64，做了语义改写但保持了事实一致性。</a:t>
            </a:r>
          </a:p>
          <a:p>
            <a:r>
              <a:rPr lang="en-US"/>
              <a:t/>
            </a:r>
          </a:p>
          <a:p>
            <a:r>
              <a:rPr lang="en-US"/>
              <a:t>文案质量：deepseek TTR 0.96 显著高于原标题的 0.87 和 template 的 0.79，用词最丰富；但 Query 覆盖率 0.51 低于原标题和 template 的 1.0，因为 deepseek 选择了语义改写而非关键词堆砌。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这是我们的核心评测数据，由表可以看出：</a:t>
            </a:r>
          </a:p>
          <a:p>
            <a:r>
              <a:rPr lang="en-US"/>
              <a:t>在稳定性上：deepseek_chat fallback 为 0%，而后三个都不为零，故其表现数据不予以对比。</a:t>
            </a:r>
          </a:p>
          <a:p>
            <a:r>
              <a:rPr lang="en-US"/>
              <a:t/>
            </a:r>
          </a:p>
          <a:p>
            <a:r>
              <a:rPr lang="en-US"/>
              <a:t>语义相关性上：BERTScore_query 上，原标题 top1 最高（0.68），template 次之（0.67），deepseek 略低（0.65），差距不大。</a:t>
            </a:r>
          </a:p>
          <a:p>
            <a:r>
              <a:rPr lang="en-US"/>
              <a:t/>
            </a:r>
          </a:p>
          <a:p>
            <a:r>
              <a:rPr lang="en-US"/>
              <a:t>意图匹配：原标题 top1 的 BERTScore_intent 也是 0.61，deepseek 0.59，非常接近。</a:t>
            </a:r>
          </a:p>
          <a:p>
            <a:r>
              <a:rPr lang="en-US"/>
              <a:t/>
            </a:r>
          </a:p>
          <a:p>
            <a:r>
              <a:rPr lang="en-US"/>
              <a:t>真实性/证据匹配：template 最高（0.79），因为直接复述标题；deepseek 0.64，做了语义改写但保持了事实一致性。</a:t>
            </a:r>
          </a:p>
          <a:p>
            <a:r>
              <a:rPr lang="en-US"/>
              <a:t/>
            </a:r>
          </a:p>
          <a:p>
            <a:r>
              <a:rPr lang="en-US"/>
              <a:t>文案质量：deepseek TTR 0.96 显著高于原标题的 0.87 和 template 的 0.79，用词最丰富；但 Query 覆盖率 0.51 低于原标题和 template 的 1.0，因为 deepseek 选择了语义改写而非关键词堆砌。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这一页照着念就行~</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2" Target="../notesSlides/notesSlide18.xml" Type="http://schemas.openxmlformats.org/officeDocument/2006/relationships/notesSlide"/><Relationship Id="rId3" Target="../media/image1.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357536" y="3194366"/>
            <a:ext cx="13572927" cy="2140839"/>
          </a:xfrm>
          <a:prstGeom prst="rect">
            <a:avLst/>
          </a:prstGeom>
        </p:spPr>
        <p:txBody>
          <a:bodyPr anchor="t" rtlCol="false" tIns="0" lIns="0" bIns="0" rIns="0">
            <a:spAutoFit/>
          </a:bodyPr>
          <a:lstStyle/>
          <a:p>
            <a:pPr algn="ctr">
              <a:lnSpc>
                <a:spcPts val="8447"/>
              </a:lnSpc>
            </a:pPr>
            <a:r>
              <a:rPr lang="en-US" b="true" sz="6399" spc="287">
                <a:solidFill>
                  <a:srgbClr val="F8FAFC"/>
                </a:solidFill>
                <a:latin typeface="Arimo Bold"/>
                <a:ea typeface="Arimo Bold"/>
                <a:cs typeface="Arimo Bold"/>
                <a:sym typeface="Arimo Bold"/>
              </a:rPr>
              <a:t>基于大语言模型的电商搜索广告</a:t>
            </a:r>
          </a:p>
          <a:p>
            <a:pPr algn="ctr">
              <a:lnSpc>
                <a:spcPts val="8447"/>
              </a:lnSpc>
            </a:pPr>
            <a:r>
              <a:rPr lang="en-US" b="true" sz="6399" spc="287">
                <a:solidFill>
                  <a:srgbClr val="F8FAFC"/>
                </a:solidFill>
                <a:latin typeface="Arimo Bold"/>
                <a:ea typeface="Arimo Bold"/>
                <a:cs typeface="Arimo Bold"/>
                <a:sym typeface="Arimo Bold"/>
              </a:rPr>
              <a:t>Query意图增强与</a:t>
            </a:r>
            <a:r>
              <a:rPr lang="en-US" b="true" sz="6399" spc="287">
                <a:solidFill>
                  <a:srgbClr val="F8FAFC"/>
                </a:solidFill>
                <a:latin typeface="Arimo Bold"/>
                <a:ea typeface="Arimo Bold"/>
                <a:cs typeface="Arimo Bold"/>
                <a:sym typeface="Arimo Bold"/>
              </a:rPr>
              <a:t>动态创意生成系统</a:t>
            </a:r>
          </a:p>
        </p:txBody>
      </p:sp>
      <p:sp>
        <p:nvSpPr>
          <p:cNvPr name="TextBox 5" id="5"/>
          <p:cNvSpPr txBox="true"/>
          <p:nvPr/>
        </p:nvSpPr>
        <p:spPr>
          <a:xfrm rot="0">
            <a:off x="2714625" y="5371576"/>
            <a:ext cx="12858750" cy="601067"/>
          </a:xfrm>
          <a:prstGeom prst="rect">
            <a:avLst/>
          </a:prstGeom>
        </p:spPr>
        <p:txBody>
          <a:bodyPr anchor="t" rtlCol="false" tIns="0" lIns="0" bIns="0" rIns="0">
            <a:spAutoFit/>
          </a:bodyPr>
          <a:lstStyle/>
          <a:p>
            <a:pPr algn="ctr">
              <a:lnSpc>
                <a:spcPts val="5182"/>
              </a:lnSpc>
            </a:pPr>
            <a:r>
              <a:rPr lang="en-US" sz="2700">
                <a:solidFill>
                  <a:srgbClr val="94A3B8"/>
                </a:solidFill>
                <a:latin typeface="Inter"/>
                <a:ea typeface="Inter"/>
                <a:cs typeface="Inter"/>
                <a:sym typeface="Inter"/>
              </a:rPr>
              <a:t>从搜索事实到大模型创意：系统设计与实验评测报告</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6" id="6"/>
          <p:cNvSpPr/>
          <p:nvPr/>
        </p:nvSpPr>
        <p:spPr>
          <a:xfrm flipH="false" flipV="false" rot="0">
            <a:off x="9693428" y="2694391"/>
            <a:ext cx="8127912" cy="3483391"/>
          </a:xfrm>
          <a:custGeom>
            <a:avLst/>
            <a:gdLst/>
            <a:ahLst/>
            <a:cxnLst/>
            <a:rect r="r" b="b" t="t" l="l"/>
            <a:pathLst>
              <a:path h="3483391" w="8127912">
                <a:moveTo>
                  <a:pt x="0" y="0"/>
                </a:moveTo>
                <a:lnTo>
                  <a:pt x="8127913" y="0"/>
                </a:lnTo>
                <a:lnTo>
                  <a:pt x="8127913" y="3483391"/>
                </a:lnTo>
                <a:lnTo>
                  <a:pt x="0" y="3483391"/>
                </a:lnTo>
                <a:lnTo>
                  <a:pt x="0" y="0"/>
                </a:lnTo>
                <a:close/>
              </a:path>
            </a:pathLst>
          </a:custGeom>
          <a:blipFill>
            <a:blip r:embed="rId4"/>
            <a:stretch>
              <a:fillRect l="-15600" t="-64961" r="-97743" b="-103850"/>
            </a:stretch>
          </a:blipFill>
        </p:spPr>
      </p:sp>
      <p:sp>
        <p:nvSpPr>
          <p:cNvPr name="Freeform 7" id="7"/>
          <p:cNvSpPr/>
          <p:nvPr/>
        </p:nvSpPr>
        <p:spPr>
          <a:xfrm flipH="false" flipV="false" rot="0">
            <a:off x="11239842" y="7469243"/>
            <a:ext cx="5035086" cy="1326113"/>
          </a:xfrm>
          <a:custGeom>
            <a:avLst/>
            <a:gdLst/>
            <a:ahLst/>
            <a:cxnLst/>
            <a:rect r="r" b="b" t="t" l="l"/>
            <a:pathLst>
              <a:path h="1326113" w="5035086">
                <a:moveTo>
                  <a:pt x="0" y="0"/>
                </a:moveTo>
                <a:lnTo>
                  <a:pt x="5035085" y="0"/>
                </a:lnTo>
                <a:lnTo>
                  <a:pt x="5035085" y="1326113"/>
                </a:lnTo>
                <a:lnTo>
                  <a:pt x="0" y="1326113"/>
                </a:lnTo>
                <a:lnTo>
                  <a:pt x="0" y="0"/>
                </a:lnTo>
                <a:close/>
              </a:path>
            </a:pathLst>
          </a:custGeom>
          <a:blipFill>
            <a:blip r:embed="rId5"/>
            <a:stretch>
              <a:fillRect l="0" t="0" r="0" b="0"/>
            </a:stretch>
          </a:blipFill>
        </p:spPr>
      </p:sp>
      <p:grpSp>
        <p:nvGrpSpPr>
          <p:cNvPr name="Group 8" id="8"/>
          <p:cNvGrpSpPr/>
          <p:nvPr/>
        </p:nvGrpSpPr>
        <p:grpSpPr>
          <a:xfrm rot="0">
            <a:off x="13019199" y="6202343"/>
            <a:ext cx="1055488" cy="10554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6B6D4"/>
            </a:solidFill>
          </p:spPr>
        </p:sp>
        <p:sp>
          <p:nvSpPr>
            <p:cNvPr name="TextBox 10" id="10"/>
            <p:cNvSpPr txBox="true"/>
            <p:nvPr/>
          </p:nvSpPr>
          <p:spPr>
            <a:xfrm>
              <a:off x="203200" y="-142875"/>
              <a:ext cx="406400" cy="854075"/>
            </a:xfrm>
            <a:prstGeom prst="rect">
              <a:avLst/>
            </a:prstGeom>
          </p:spPr>
          <p:txBody>
            <a:bodyPr anchor="ctr" rtlCol="false" tIns="50800" lIns="50800" bIns="50800" rIns="50800"/>
            <a:lstStyle/>
            <a:p>
              <a:pPr algn="ctr">
                <a:lnSpc>
                  <a:spcPts val="3887"/>
                </a:lnSpc>
              </a:pPr>
            </a:p>
          </p:txBody>
        </p:sp>
      </p:grpSp>
      <p:sp>
        <p:nvSpPr>
          <p:cNvPr name="TextBox 11" id="11"/>
          <p:cNvSpPr txBox="true"/>
          <p:nvPr/>
        </p:nvSpPr>
        <p:spPr>
          <a:xfrm rot="0">
            <a:off x="1285875" y="2987126"/>
            <a:ext cx="7683818" cy="511303"/>
          </a:xfrm>
          <a:prstGeom prst="rect">
            <a:avLst/>
          </a:prstGeom>
        </p:spPr>
        <p:txBody>
          <a:bodyPr anchor="t" rtlCol="false" tIns="0" lIns="0" bIns="0" rIns="0">
            <a:spAutoFit/>
          </a:bodyPr>
          <a:lstStyle/>
          <a:p>
            <a:pPr algn="l">
              <a:lnSpc>
                <a:spcPts val="4463"/>
              </a:lnSpc>
            </a:pPr>
            <a:r>
              <a:rPr lang="en-US" sz="2324">
                <a:solidFill>
                  <a:srgbClr val="94A3B8"/>
                </a:solidFill>
                <a:latin typeface="Inter"/>
                <a:ea typeface="Inter"/>
                <a:cs typeface="Inter"/>
                <a:sym typeface="Inter"/>
              </a:rPr>
              <a:t>面向“搜索广告文案生成”场景搭建的端到端动态创意系统。</a:t>
            </a:r>
          </a:p>
        </p:txBody>
      </p:sp>
      <p:sp>
        <p:nvSpPr>
          <p:cNvPr name="TextBox 12" id="12"/>
          <p:cNvSpPr txBox="true"/>
          <p:nvPr/>
        </p:nvSpPr>
        <p:spPr>
          <a:xfrm rot="0">
            <a:off x="1285875" y="3655743"/>
            <a:ext cx="7500938" cy="1073278"/>
          </a:xfrm>
          <a:prstGeom prst="rect">
            <a:avLst/>
          </a:prstGeom>
        </p:spPr>
        <p:txBody>
          <a:bodyPr anchor="t" rtlCol="false" tIns="0" lIns="0" bIns="0" rIns="0">
            <a:spAutoFit/>
          </a:bodyPr>
          <a:lstStyle/>
          <a:p>
            <a:pPr algn="l">
              <a:lnSpc>
                <a:spcPts val="4463"/>
              </a:lnSpc>
            </a:pPr>
            <a:r>
              <a:rPr lang="en-US" sz="2324">
                <a:solidFill>
                  <a:srgbClr val="94A3B8"/>
                </a:solidFill>
                <a:latin typeface="Inter"/>
                <a:ea typeface="Inter"/>
                <a:cs typeface="Inter"/>
                <a:sym typeface="Inter"/>
              </a:rPr>
              <a:t>核心逻辑：将搜索系统召回的商品证据转化为广告生成的约束条件。</a:t>
            </a:r>
          </a:p>
        </p:txBody>
      </p:sp>
      <p:sp>
        <p:nvSpPr>
          <p:cNvPr name="TextBox 13" id="13"/>
          <p:cNvSpPr txBox="true"/>
          <p:nvPr/>
        </p:nvSpPr>
        <p:spPr>
          <a:xfrm rot="0">
            <a:off x="1285875" y="4735782"/>
            <a:ext cx="7500938" cy="1073278"/>
          </a:xfrm>
          <a:prstGeom prst="rect">
            <a:avLst/>
          </a:prstGeom>
        </p:spPr>
        <p:txBody>
          <a:bodyPr anchor="t" rtlCol="false" tIns="0" lIns="0" bIns="0" rIns="0">
            <a:spAutoFit/>
          </a:bodyPr>
          <a:lstStyle/>
          <a:p>
            <a:pPr algn="l">
              <a:lnSpc>
                <a:spcPts val="4463"/>
              </a:lnSpc>
            </a:pPr>
            <a:r>
              <a:rPr lang="en-US" sz="2324">
                <a:solidFill>
                  <a:srgbClr val="94A3B8"/>
                </a:solidFill>
                <a:latin typeface="Inter"/>
                <a:ea typeface="Inter"/>
                <a:cs typeface="Inter"/>
                <a:sym typeface="Inter"/>
              </a:rPr>
              <a:t>构建从 Query、证据筛选、提示词构建到最终文案生成的完整 Pipeline。</a:t>
            </a:r>
          </a:p>
        </p:txBody>
      </p:sp>
      <p:sp>
        <p:nvSpPr>
          <p:cNvPr name="TextBox 14" id="14"/>
          <p:cNvSpPr txBox="true"/>
          <p:nvPr/>
        </p:nvSpPr>
        <p:spPr>
          <a:xfrm rot="0">
            <a:off x="1285875" y="5815832"/>
            <a:ext cx="7500938" cy="1073278"/>
          </a:xfrm>
          <a:prstGeom prst="rect">
            <a:avLst/>
          </a:prstGeom>
        </p:spPr>
        <p:txBody>
          <a:bodyPr anchor="t" rtlCol="false" tIns="0" lIns="0" bIns="0" rIns="0">
            <a:spAutoFit/>
          </a:bodyPr>
          <a:lstStyle/>
          <a:p>
            <a:pPr algn="l">
              <a:lnSpc>
                <a:spcPts val="4463"/>
              </a:lnSpc>
            </a:pPr>
            <a:r>
              <a:rPr lang="en-US" sz="2324">
                <a:solidFill>
                  <a:srgbClr val="94A3B8"/>
                </a:solidFill>
                <a:latin typeface="Inter"/>
                <a:ea typeface="Inter"/>
                <a:cs typeface="Inter"/>
                <a:sym typeface="Inter"/>
              </a:rPr>
              <a:t>实现系统级评测体系，全面衡量生成质量（相关性、自然度、真实性）。</a:t>
            </a:r>
          </a:p>
        </p:txBody>
      </p:sp>
      <p:sp>
        <p:nvSpPr>
          <p:cNvPr name="TextBox 15" id="15"/>
          <p:cNvSpPr txBox="true"/>
          <p:nvPr/>
        </p:nvSpPr>
        <p:spPr>
          <a:xfrm rot="0">
            <a:off x="1285875" y="6895881"/>
            <a:ext cx="7500938" cy="1073278"/>
          </a:xfrm>
          <a:prstGeom prst="rect">
            <a:avLst/>
          </a:prstGeom>
        </p:spPr>
        <p:txBody>
          <a:bodyPr anchor="t" rtlCol="false" tIns="0" lIns="0" bIns="0" rIns="0">
            <a:spAutoFit/>
          </a:bodyPr>
          <a:lstStyle/>
          <a:p>
            <a:pPr algn="l">
              <a:lnSpc>
                <a:spcPts val="4463"/>
              </a:lnSpc>
            </a:pPr>
            <a:r>
              <a:rPr lang="en-US" sz="2324">
                <a:solidFill>
                  <a:srgbClr val="94A3B8"/>
                </a:solidFill>
                <a:latin typeface="Inter"/>
                <a:ea typeface="Inter"/>
                <a:cs typeface="Inter"/>
                <a:sym typeface="Inter"/>
              </a:rPr>
              <a:t>为后续基于本地的 SFT（监督微调）和 LoRA 模型部署预留标准接口。</a:t>
            </a:r>
          </a:p>
        </p:txBody>
      </p:sp>
      <p:sp>
        <p:nvSpPr>
          <p:cNvPr name="TextBox 16" id="16"/>
          <p:cNvSpPr txBox="true"/>
          <p:nvPr/>
        </p:nvSpPr>
        <p:spPr>
          <a:xfrm rot="0">
            <a:off x="857250" y="2768051"/>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17" id="17"/>
          <p:cNvSpPr txBox="true"/>
          <p:nvPr/>
        </p:nvSpPr>
        <p:spPr>
          <a:xfrm rot="0">
            <a:off x="857250" y="3436668"/>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18" id="18"/>
          <p:cNvSpPr txBox="true"/>
          <p:nvPr/>
        </p:nvSpPr>
        <p:spPr>
          <a:xfrm rot="0">
            <a:off x="857250" y="4516707"/>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19" id="19"/>
          <p:cNvSpPr txBox="true"/>
          <p:nvPr/>
        </p:nvSpPr>
        <p:spPr>
          <a:xfrm rot="0">
            <a:off x="857250" y="5596757"/>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0" id="20"/>
          <p:cNvSpPr txBox="true"/>
          <p:nvPr/>
        </p:nvSpPr>
        <p:spPr>
          <a:xfrm rot="0">
            <a:off x="857250" y="6676806"/>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1" id="21"/>
          <p:cNvSpPr txBox="true"/>
          <p:nvPr/>
        </p:nvSpPr>
        <p:spPr>
          <a:xfrm rot="0">
            <a:off x="1071562" y="828675"/>
            <a:ext cx="2286000"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项目目标</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6500812"/>
            <a:ext cx="3645989" cy="2371725"/>
            <a:chOff x="0" y="0"/>
            <a:chExt cx="4861319" cy="3162300"/>
          </a:xfrm>
        </p:grpSpPr>
        <p:sp>
          <p:nvSpPr>
            <p:cNvPr name="Freeform 5" id="5" descr="image.png"/>
            <p:cNvSpPr/>
            <p:nvPr/>
          </p:nvSpPr>
          <p:spPr>
            <a:xfrm flipH="false" flipV="false" rot="0">
              <a:off x="0" y="0"/>
              <a:ext cx="4861306" cy="3162300"/>
            </a:xfrm>
            <a:custGeom>
              <a:avLst/>
              <a:gdLst/>
              <a:ahLst/>
              <a:cxnLst/>
              <a:rect r="r" b="b" t="t" l="l"/>
              <a:pathLst>
                <a:path h="3162300" w="4861306">
                  <a:moveTo>
                    <a:pt x="0" y="0"/>
                  </a:moveTo>
                  <a:lnTo>
                    <a:pt x="4861306" y="0"/>
                  </a:lnTo>
                  <a:lnTo>
                    <a:pt x="4861306" y="3162300"/>
                  </a:lnTo>
                  <a:lnTo>
                    <a:pt x="0" y="3162300"/>
                  </a:lnTo>
                  <a:lnTo>
                    <a:pt x="0" y="0"/>
                  </a:lnTo>
                  <a:close/>
                </a:path>
              </a:pathLst>
            </a:custGeom>
            <a:blipFill>
              <a:blip r:embed="rId4"/>
              <a:stretch>
                <a:fillRect l="0" t="0" r="-318" b="0"/>
              </a:stretch>
            </a:blipFill>
          </p:spPr>
        </p:sp>
      </p:grpSp>
      <p:grpSp>
        <p:nvGrpSpPr>
          <p:cNvPr name="Group 6" id="6"/>
          <p:cNvGrpSpPr/>
          <p:nvPr/>
        </p:nvGrpSpPr>
        <p:grpSpPr>
          <a:xfrm rot="0">
            <a:off x="5166274" y="3128962"/>
            <a:ext cx="3645989" cy="2371725"/>
            <a:chOff x="0" y="0"/>
            <a:chExt cx="4861319" cy="3162300"/>
          </a:xfrm>
        </p:grpSpPr>
        <p:sp>
          <p:nvSpPr>
            <p:cNvPr name="Freeform 7" id="7" descr="image.png"/>
            <p:cNvSpPr/>
            <p:nvPr/>
          </p:nvSpPr>
          <p:spPr>
            <a:xfrm flipH="false" flipV="false" rot="0">
              <a:off x="0" y="0"/>
              <a:ext cx="4861306" cy="3162300"/>
            </a:xfrm>
            <a:custGeom>
              <a:avLst/>
              <a:gdLst/>
              <a:ahLst/>
              <a:cxnLst/>
              <a:rect r="r" b="b" t="t" l="l"/>
              <a:pathLst>
                <a:path h="3162300" w="4861306">
                  <a:moveTo>
                    <a:pt x="0" y="0"/>
                  </a:moveTo>
                  <a:lnTo>
                    <a:pt x="4861306" y="0"/>
                  </a:lnTo>
                  <a:lnTo>
                    <a:pt x="4861306" y="3162300"/>
                  </a:lnTo>
                  <a:lnTo>
                    <a:pt x="0" y="3162300"/>
                  </a:lnTo>
                  <a:lnTo>
                    <a:pt x="0" y="0"/>
                  </a:lnTo>
                  <a:close/>
                </a:path>
              </a:pathLst>
            </a:custGeom>
            <a:blipFill>
              <a:blip r:embed="rId5"/>
              <a:stretch>
                <a:fillRect l="0" t="0" r="-318" b="0"/>
              </a:stretch>
            </a:blipFill>
          </p:spPr>
        </p:sp>
      </p:grpSp>
      <p:grpSp>
        <p:nvGrpSpPr>
          <p:cNvPr name="Group 8" id="8"/>
          <p:cNvGrpSpPr/>
          <p:nvPr/>
        </p:nvGrpSpPr>
        <p:grpSpPr>
          <a:xfrm rot="0">
            <a:off x="9475289" y="6500812"/>
            <a:ext cx="3645989" cy="2371725"/>
            <a:chOff x="0" y="0"/>
            <a:chExt cx="4861319" cy="3162300"/>
          </a:xfrm>
        </p:grpSpPr>
        <p:sp>
          <p:nvSpPr>
            <p:cNvPr name="Freeform 9" id="9" descr="image.png"/>
            <p:cNvSpPr/>
            <p:nvPr/>
          </p:nvSpPr>
          <p:spPr>
            <a:xfrm flipH="false" flipV="false" rot="0">
              <a:off x="0" y="0"/>
              <a:ext cx="4861306" cy="3162300"/>
            </a:xfrm>
            <a:custGeom>
              <a:avLst/>
              <a:gdLst/>
              <a:ahLst/>
              <a:cxnLst/>
              <a:rect r="r" b="b" t="t" l="l"/>
              <a:pathLst>
                <a:path h="3162300" w="4861306">
                  <a:moveTo>
                    <a:pt x="0" y="0"/>
                  </a:moveTo>
                  <a:lnTo>
                    <a:pt x="4861306" y="0"/>
                  </a:lnTo>
                  <a:lnTo>
                    <a:pt x="4861306" y="3162300"/>
                  </a:lnTo>
                  <a:lnTo>
                    <a:pt x="0" y="3162300"/>
                  </a:lnTo>
                  <a:lnTo>
                    <a:pt x="0" y="0"/>
                  </a:lnTo>
                  <a:close/>
                </a:path>
              </a:pathLst>
            </a:custGeom>
            <a:blipFill>
              <a:blip r:embed="rId6"/>
              <a:stretch>
                <a:fillRect l="0" t="0" r="-318" b="0"/>
              </a:stretch>
            </a:blipFill>
          </p:spPr>
        </p:sp>
      </p:grpSp>
      <p:grpSp>
        <p:nvGrpSpPr>
          <p:cNvPr name="Group 10" id="10"/>
          <p:cNvGrpSpPr/>
          <p:nvPr/>
        </p:nvGrpSpPr>
        <p:grpSpPr>
          <a:xfrm rot="0">
            <a:off x="13784313" y="3128962"/>
            <a:ext cx="3645989" cy="2371725"/>
            <a:chOff x="0" y="0"/>
            <a:chExt cx="4861319" cy="3162300"/>
          </a:xfrm>
        </p:grpSpPr>
        <p:sp>
          <p:nvSpPr>
            <p:cNvPr name="Freeform 11" id="11" descr="image.png"/>
            <p:cNvSpPr/>
            <p:nvPr/>
          </p:nvSpPr>
          <p:spPr>
            <a:xfrm flipH="false" flipV="false" rot="0">
              <a:off x="0" y="0"/>
              <a:ext cx="4861306" cy="3162300"/>
            </a:xfrm>
            <a:custGeom>
              <a:avLst/>
              <a:gdLst/>
              <a:ahLst/>
              <a:cxnLst/>
              <a:rect r="r" b="b" t="t" l="l"/>
              <a:pathLst>
                <a:path h="3162300" w="4861306">
                  <a:moveTo>
                    <a:pt x="0" y="0"/>
                  </a:moveTo>
                  <a:lnTo>
                    <a:pt x="4861306" y="0"/>
                  </a:lnTo>
                  <a:lnTo>
                    <a:pt x="4861306" y="3162300"/>
                  </a:lnTo>
                  <a:lnTo>
                    <a:pt x="0" y="3162300"/>
                  </a:lnTo>
                  <a:lnTo>
                    <a:pt x="0" y="0"/>
                  </a:lnTo>
                  <a:close/>
                </a:path>
              </a:pathLst>
            </a:custGeom>
            <a:blipFill>
              <a:blip r:embed="rId7"/>
              <a:stretch>
                <a:fillRect l="0" t="0" r="-318" b="0"/>
              </a:stretch>
            </a:blipFill>
          </p:spPr>
        </p:sp>
      </p:grpSp>
      <p:grpSp>
        <p:nvGrpSpPr>
          <p:cNvPr name="Group 12" id="12"/>
          <p:cNvGrpSpPr/>
          <p:nvPr/>
        </p:nvGrpSpPr>
        <p:grpSpPr>
          <a:xfrm rot="0">
            <a:off x="857250" y="5972175"/>
            <a:ext cx="16573500" cy="57150"/>
            <a:chOff x="0" y="0"/>
            <a:chExt cx="22098000" cy="76200"/>
          </a:xfrm>
        </p:grpSpPr>
        <p:sp>
          <p:nvSpPr>
            <p:cNvPr name="Freeform 13" id="13"/>
            <p:cNvSpPr/>
            <p:nvPr/>
          </p:nvSpPr>
          <p:spPr>
            <a:xfrm flipH="false" flipV="false" rot="0">
              <a:off x="0" y="0"/>
              <a:ext cx="22098000" cy="76200"/>
            </a:xfrm>
            <a:custGeom>
              <a:avLst/>
              <a:gdLst/>
              <a:ahLst/>
              <a:cxnLst/>
              <a:rect r="r" b="b" t="t" l="l"/>
              <a:pathLst>
                <a:path h="76200" w="22098000">
                  <a:moveTo>
                    <a:pt x="0" y="0"/>
                  </a:moveTo>
                  <a:lnTo>
                    <a:pt x="22098000" y="0"/>
                  </a:lnTo>
                  <a:lnTo>
                    <a:pt x="22098000" y="76200"/>
                  </a:lnTo>
                  <a:lnTo>
                    <a:pt x="0" y="76200"/>
                  </a:lnTo>
                  <a:close/>
                </a:path>
              </a:pathLst>
            </a:custGeom>
            <a:solidFill>
              <a:srgbClr val="334155"/>
            </a:solidFill>
          </p:spPr>
        </p:sp>
      </p:grpSp>
      <p:sp>
        <p:nvSpPr>
          <p:cNvPr name="TextBox 14" id="14"/>
          <p:cNvSpPr txBox="true"/>
          <p:nvPr/>
        </p:nvSpPr>
        <p:spPr>
          <a:xfrm rot="0">
            <a:off x="1081135" y="6781800"/>
            <a:ext cx="3198209" cy="404812"/>
          </a:xfrm>
          <a:prstGeom prst="rect">
            <a:avLst/>
          </a:prstGeom>
        </p:spPr>
        <p:txBody>
          <a:bodyPr anchor="t" rtlCol="false" tIns="0" lIns="0" bIns="0" rIns="0">
            <a:spAutoFit/>
          </a:bodyPr>
          <a:lstStyle/>
          <a:p>
            <a:pPr algn="ctr">
              <a:lnSpc>
                <a:spcPts val="2700"/>
              </a:lnSpc>
            </a:pPr>
            <a:r>
              <a:rPr lang="en-US" sz="2250">
                <a:solidFill>
                  <a:srgbClr val="06B6D4"/>
                </a:solidFill>
                <a:latin typeface="Arimo"/>
                <a:ea typeface="Arimo"/>
                <a:cs typeface="Arimo"/>
                <a:sym typeface="Arimo"/>
              </a:rPr>
              <a:t>第一阶段</a:t>
            </a:r>
          </a:p>
        </p:txBody>
      </p:sp>
      <p:sp>
        <p:nvSpPr>
          <p:cNvPr name="TextBox 15" id="15"/>
          <p:cNvSpPr txBox="true"/>
          <p:nvPr/>
        </p:nvSpPr>
        <p:spPr>
          <a:xfrm rot="0">
            <a:off x="1157288" y="7205663"/>
            <a:ext cx="3045914" cy="1152525"/>
          </a:xfrm>
          <a:prstGeom prst="rect">
            <a:avLst/>
          </a:prstGeom>
        </p:spPr>
        <p:txBody>
          <a:bodyPr anchor="t" rtlCol="false" tIns="0" lIns="0" bIns="0" rIns="0">
            <a:spAutoFit/>
          </a:bodyPr>
          <a:lstStyle/>
          <a:p>
            <a:pPr algn="ctr">
              <a:lnSpc>
                <a:spcPts val="3240"/>
              </a:lnSpc>
            </a:pPr>
            <a:r>
              <a:rPr lang="en-US" sz="1687">
                <a:solidFill>
                  <a:srgbClr val="94A3B8"/>
                </a:solidFill>
                <a:latin typeface="Inter"/>
                <a:ea typeface="Inter"/>
                <a:cs typeface="Inter"/>
                <a:sym typeface="Inter"/>
              </a:rPr>
              <a:t>环境搭建与 KuaiSearch 原始搜索基座数据打通，理解原仓库底层入口。</a:t>
            </a:r>
          </a:p>
        </p:txBody>
      </p:sp>
      <p:sp>
        <p:nvSpPr>
          <p:cNvPr name="TextBox 16" id="16"/>
          <p:cNvSpPr txBox="true"/>
          <p:nvPr/>
        </p:nvSpPr>
        <p:spPr>
          <a:xfrm rot="0">
            <a:off x="5390159" y="3409950"/>
            <a:ext cx="3198209" cy="404812"/>
          </a:xfrm>
          <a:prstGeom prst="rect">
            <a:avLst/>
          </a:prstGeom>
        </p:spPr>
        <p:txBody>
          <a:bodyPr anchor="t" rtlCol="false" tIns="0" lIns="0" bIns="0" rIns="0">
            <a:spAutoFit/>
          </a:bodyPr>
          <a:lstStyle/>
          <a:p>
            <a:pPr algn="ctr">
              <a:lnSpc>
                <a:spcPts val="2700"/>
              </a:lnSpc>
            </a:pPr>
            <a:r>
              <a:rPr lang="en-US" sz="2250">
                <a:solidFill>
                  <a:srgbClr val="06B6D4"/>
                </a:solidFill>
                <a:latin typeface="Arimo"/>
                <a:ea typeface="Arimo"/>
                <a:cs typeface="Arimo"/>
                <a:sym typeface="Arimo"/>
              </a:rPr>
              <a:t>第二阶段</a:t>
            </a:r>
          </a:p>
        </p:txBody>
      </p:sp>
      <p:sp>
        <p:nvSpPr>
          <p:cNvPr name="TextBox 17" id="17"/>
          <p:cNvSpPr txBox="true"/>
          <p:nvPr/>
        </p:nvSpPr>
        <p:spPr>
          <a:xfrm rot="0">
            <a:off x="5466312" y="3833813"/>
            <a:ext cx="3045914" cy="1152525"/>
          </a:xfrm>
          <a:prstGeom prst="rect">
            <a:avLst/>
          </a:prstGeom>
        </p:spPr>
        <p:txBody>
          <a:bodyPr anchor="t" rtlCol="false" tIns="0" lIns="0" bIns="0" rIns="0">
            <a:spAutoFit/>
          </a:bodyPr>
          <a:lstStyle/>
          <a:p>
            <a:pPr algn="ctr">
              <a:lnSpc>
                <a:spcPts val="3240"/>
              </a:lnSpc>
            </a:pPr>
            <a:r>
              <a:rPr lang="en-US" sz="1687">
                <a:solidFill>
                  <a:srgbClr val="94A3B8"/>
                </a:solidFill>
                <a:latin typeface="Inter"/>
                <a:ea typeface="Inter"/>
                <a:cs typeface="Inter"/>
                <a:sym typeface="Inter"/>
              </a:rPr>
              <a:t>搭建最小可行性管道 (Minimum Pipeline)，基于规则生成首批基准样本对。</a:t>
            </a:r>
          </a:p>
        </p:txBody>
      </p:sp>
      <p:sp>
        <p:nvSpPr>
          <p:cNvPr name="TextBox 18" id="18"/>
          <p:cNvSpPr txBox="true"/>
          <p:nvPr/>
        </p:nvSpPr>
        <p:spPr>
          <a:xfrm rot="0">
            <a:off x="9699184" y="6781800"/>
            <a:ext cx="3198209" cy="404812"/>
          </a:xfrm>
          <a:prstGeom prst="rect">
            <a:avLst/>
          </a:prstGeom>
        </p:spPr>
        <p:txBody>
          <a:bodyPr anchor="t" rtlCol="false" tIns="0" lIns="0" bIns="0" rIns="0">
            <a:spAutoFit/>
          </a:bodyPr>
          <a:lstStyle/>
          <a:p>
            <a:pPr algn="ctr">
              <a:lnSpc>
                <a:spcPts val="2700"/>
              </a:lnSpc>
            </a:pPr>
            <a:r>
              <a:rPr lang="en-US" sz="2250">
                <a:solidFill>
                  <a:srgbClr val="06B6D4"/>
                </a:solidFill>
                <a:latin typeface="Arimo"/>
                <a:ea typeface="Arimo"/>
                <a:cs typeface="Arimo"/>
                <a:sym typeface="Arimo"/>
              </a:rPr>
              <a:t>第三阶段</a:t>
            </a:r>
          </a:p>
        </p:txBody>
      </p:sp>
      <p:sp>
        <p:nvSpPr>
          <p:cNvPr name="TextBox 19" id="19"/>
          <p:cNvSpPr txBox="true"/>
          <p:nvPr/>
        </p:nvSpPr>
        <p:spPr>
          <a:xfrm rot="0">
            <a:off x="9775327" y="7205663"/>
            <a:ext cx="3045914" cy="1152525"/>
          </a:xfrm>
          <a:prstGeom prst="rect">
            <a:avLst/>
          </a:prstGeom>
        </p:spPr>
        <p:txBody>
          <a:bodyPr anchor="t" rtlCol="false" tIns="0" lIns="0" bIns="0" rIns="0">
            <a:spAutoFit/>
          </a:bodyPr>
          <a:lstStyle/>
          <a:p>
            <a:pPr algn="ctr">
              <a:lnSpc>
                <a:spcPts val="3240"/>
              </a:lnSpc>
            </a:pPr>
            <a:r>
              <a:rPr lang="en-US" sz="1687">
                <a:solidFill>
                  <a:srgbClr val="94A3B8"/>
                </a:solidFill>
                <a:latin typeface="Inter"/>
                <a:ea typeface="Inter"/>
                <a:cs typeface="Inter"/>
                <a:sym typeface="Inter"/>
              </a:rPr>
              <a:t>引入弱个性化能力与 Summary 规则聚合，整合用户画像优化基础规则策略。</a:t>
            </a:r>
          </a:p>
        </p:txBody>
      </p:sp>
      <p:sp>
        <p:nvSpPr>
          <p:cNvPr name="TextBox 20" id="20"/>
          <p:cNvSpPr txBox="true"/>
          <p:nvPr/>
        </p:nvSpPr>
        <p:spPr>
          <a:xfrm rot="0">
            <a:off x="14008198" y="3409950"/>
            <a:ext cx="3198209" cy="361950"/>
          </a:xfrm>
          <a:prstGeom prst="rect">
            <a:avLst/>
          </a:prstGeom>
        </p:spPr>
        <p:txBody>
          <a:bodyPr anchor="t" rtlCol="false" tIns="0" lIns="0" bIns="0" rIns="0">
            <a:spAutoFit/>
          </a:bodyPr>
          <a:lstStyle/>
          <a:p>
            <a:pPr algn="ctr">
              <a:lnSpc>
                <a:spcPts val="2700"/>
              </a:lnSpc>
            </a:pPr>
            <a:r>
              <a:rPr lang="en-US" sz="2250">
                <a:solidFill>
                  <a:srgbClr val="06B6D4"/>
                </a:solidFill>
                <a:latin typeface="Arimo"/>
                <a:ea typeface="Arimo"/>
                <a:cs typeface="Arimo"/>
                <a:sym typeface="Arimo"/>
              </a:rPr>
              <a:t>第四阶段 </a:t>
            </a:r>
          </a:p>
        </p:txBody>
      </p:sp>
      <p:sp>
        <p:nvSpPr>
          <p:cNvPr name="TextBox 21" id="21"/>
          <p:cNvSpPr txBox="true"/>
          <p:nvPr/>
        </p:nvSpPr>
        <p:spPr>
          <a:xfrm rot="0">
            <a:off x="14084351" y="3833813"/>
            <a:ext cx="3045914" cy="1152525"/>
          </a:xfrm>
          <a:prstGeom prst="rect">
            <a:avLst/>
          </a:prstGeom>
        </p:spPr>
        <p:txBody>
          <a:bodyPr anchor="t" rtlCol="false" tIns="0" lIns="0" bIns="0" rIns="0">
            <a:spAutoFit/>
          </a:bodyPr>
          <a:lstStyle/>
          <a:p>
            <a:pPr algn="ctr">
              <a:lnSpc>
                <a:spcPts val="3240"/>
              </a:lnSpc>
            </a:pPr>
            <a:r>
              <a:rPr lang="en-US" sz="1687">
                <a:solidFill>
                  <a:srgbClr val="94A3B8"/>
                </a:solidFill>
                <a:latin typeface="Inter"/>
                <a:ea typeface="Inter"/>
                <a:cs typeface="Inter"/>
                <a:sym typeface="Inter"/>
              </a:rPr>
              <a:t>全面落地动态生成框架，接入真实大语言模型 (DeepSeek) 验证闭环并产出评测。</a:t>
            </a:r>
          </a:p>
        </p:txBody>
      </p:sp>
      <p:sp>
        <p:nvSpPr>
          <p:cNvPr name="TextBox 22" id="22"/>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系统演进的四个核心阶段</a:t>
            </a:r>
          </a:p>
        </p:txBody>
      </p:sp>
      <p:grpSp>
        <p:nvGrpSpPr>
          <p:cNvPr name="Group 23" id="23"/>
          <p:cNvGrpSpPr/>
          <p:nvPr/>
        </p:nvGrpSpPr>
        <p:grpSpPr>
          <a:xfrm rot="0">
            <a:off x="857250" y="857250"/>
            <a:ext cx="85725" cy="571500"/>
            <a:chOff x="0" y="0"/>
            <a:chExt cx="114300" cy="762000"/>
          </a:xfrm>
        </p:grpSpPr>
        <p:sp>
          <p:nvSpPr>
            <p:cNvPr name="Freeform 24" id="24"/>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grpSp>
        <p:nvGrpSpPr>
          <p:cNvPr name="Group 25" id="25"/>
          <p:cNvGrpSpPr/>
          <p:nvPr/>
        </p:nvGrpSpPr>
        <p:grpSpPr>
          <a:xfrm rot="0">
            <a:off x="2480224" y="5800725"/>
            <a:ext cx="400050" cy="400050"/>
            <a:chOff x="0" y="0"/>
            <a:chExt cx="533400" cy="533400"/>
          </a:xfrm>
        </p:grpSpPr>
        <p:sp>
          <p:nvSpPr>
            <p:cNvPr name="Freeform 26" id="26"/>
            <p:cNvSpPr/>
            <p:nvPr/>
          </p:nvSpPr>
          <p:spPr>
            <a:xfrm flipH="false" flipV="false" rot="0">
              <a:off x="38100" y="3810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0B132B"/>
            </a:solidFill>
          </p:spPr>
        </p:sp>
        <p:sp>
          <p:nvSpPr>
            <p:cNvPr name="Freeform 27" id="27"/>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277622" y="0"/>
                    <a:pt x="287909" y="4699"/>
                    <a:pt x="295148" y="12827"/>
                  </a:cubicBezTo>
                  <a:lnTo>
                    <a:pt x="266700" y="38100"/>
                  </a:lnTo>
                  <a:lnTo>
                    <a:pt x="266700" y="0"/>
                  </a:lnTo>
                  <a:lnTo>
                    <a:pt x="266700" y="38100"/>
                  </a:lnTo>
                  <a:lnTo>
                    <a:pt x="266700" y="0"/>
                  </a:lnTo>
                  <a:cubicBezTo>
                    <a:pt x="414020" y="0"/>
                    <a:pt x="533400" y="119380"/>
                    <a:pt x="533400" y="266700"/>
                  </a:cubicBezTo>
                  <a:cubicBezTo>
                    <a:pt x="533400" y="281178"/>
                    <a:pt x="525272" y="294386"/>
                    <a:pt x="512318" y="300736"/>
                  </a:cubicBezTo>
                  <a:lnTo>
                    <a:pt x="495300" y="266700"/>
                  </a:lnTo>
                  <a:lnTo>
                    <a:pt x="533400" y="266700"/>
                  </a:lnTo>
                  <a:cubicBezTo>
                    <a:pt x="533400" y="414020"/>
                    <a:pt x="414020" y="533400"/>
                    <a:pt x="266700" y="533400"/>
                  </a:cubicBezTo>
                  <a:lnTo>
                    <a:pt x="266700" y="495300"/>
                  </a:lnTo>
                  <a:lnTo>
                    <a:pt x="266700" y="533400"/>
                  </a:lnTo>
                  <a:cubicBezTo>
                    <a:pt x="119380" y="533400"/>
                    <a:pt x="0" y="414020"/>
                    <a:pt x="0" y="266700"/>
                  </a:cubicBezTo>
                  <a:lnTo>
                    <a:pt x="38100" y="266700"/>
                  </a:lnTo>
                  <a:lnTo>
                    <a:pt x="0" y="266700"/>
                  </a:lnTo>
                  <a:moveTo>
                    <a:pt x="76200" y="266700"/>
                  </a:moveTo>
                  <a:lnTo>
                    <a:pt x="38100" y="266700"/>
                  </a:lnTo>
                  <a:lnTo>
                    <a:pt x="76200" y="266700"/>
                  </a:lnTo>
                  <a:cubicBezTo>
                    <a:pt x="76200" y="371856"/>
                    <a:pt x="161544" y="457200"/>
                    <a:pt x="266700" y="457200"/>
                  </a:cubicBezTo>
                  <a:cubicBezTo>
                    <a:pt x="371856" y="457200"/>
                    <a:pt x="457200" y="371856"/>
                    <a:pt x="457200" y="266700"/>
                  </a:cubicBezTo>
                  <a:cubicBezTo>
                    <a:pt x="457200" y="252222"/>
                    <a:pt x="465328" y="239014"/>
                    <a:pt x="478282" y="232664"/>
                  </a:cubicBezTo>
                  <a:lnTo>
                    <a:pt x="495300" y="266700"/>
                  </a:lnTo>
                  <a:lnTo>
                    <a:pt x="457200" y="266700"/>
                  </a:lnTo>
                  <a:cubicBezTo>
                    <a:pt x="457200" y="161544"/>
                    <a:pt x="371856" y="76200"/>
                    <a:pt x="266700" y="76200"/>
                  </a:cubicBezTo>
                  <a:cubicBezTo>
                    <a:pt x="255778" y="76200"/>
                    <a:pt x="245491" y="71501"/>
                    <a:pt x="238252" y="63373"/>
                  </a:cubicBezTo>
                  <a:lnTo>
                    <a:pt x="266700" y="38100"/>
                  </a:lnTo>
                  <a:lnTo>
                    <a:pt x="266700" y="76200"/>
                  </a:lnTo>
                  <a:cubicBezTo>
                    <a:pt x="161544" y="76200"/>
                    <a:pt x="76200" y="161544"/>
                    <a:pt x="76200" y="266700"/>
                  </a:cubicBezTo>
                  <a:close/>
                </a:path>
              </a:pathLst>
            </a:custGeom>
            <a:solidFill>
              <a:srgbClr val="06B6D4"/>
            </a:solidFill>
          </p:spPr>
        </p:sp>
      </p:grpSp>
      <p:grpSp>
        <p:nvGrpSpPr>
          <p:cNvPr name="Group 28" id="28"/>
          <p:cNvGrpSpPr/>
          <p:nvPr/>
        </p:nvGrpSpPr>
        <p:grpSpPr>
          <a:xfrm rot="0">
            <a:off x="6789239" y="5800725"/>
            <a:ext cx="400050" cy="400050"/>
            <a:chOff x="0" y="0"/>
            <a:chExt cx="533400" cy="533400"/>
          </a:xfrm>
        </p:grpSpPr>
        <p:sp>
          <p:nvSpPr>
            <p:cNvPr name="Freeform 29" id="29"/>
            <p:cNvSpPr/>
            <p:nvPr/>
          </p:nvSpPr>
          <p:spPr>
            <a:xfrm flipH="false" flipV="false" rot="0">
              <a:off x="38100" y="3810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0B132B"/>
            </a:solidFill>
          </p:spPr>
        </p:sp>
        <p:sp>
          <p:nvSpPr>
            <p:cNvPr name="Freeform 30" id="30"/>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277622" y="0"/>
                    <a:pt x="287909" y="4699"/>
                    <a:pt x="295148" y="12827"/>
                  </a:cubicBezTo>
                  <a:lnTo>
                    <a:pt x="266700" y="38100"/>
                  </a:lnTo>
                  <a:lnTo>
                    <a:pt x="266700" y="0"/>
                  </a:lnTo>
                  <a:lnTo>
                    <a:pt x="266700" y="38100"/>
                  </a:lnTo>
                  <a:lnTo>
                    <a:pt x="266700" y="0"/>
                  </a:lnTo>
                  <a:cubicBezTo>
                    <a:pt x="414020" y="0"/>
                    <a:pt x="533400" y="119380"/>
                    <a:pt x="533400" y="266700"/>
                  </a:cubicBezTo>
                  <a:cubicBezTo>
                    <a:pt x="533400" y="281178"/>
                    <a:pt x="525272" y="294386"/>
                    <a:pt x="512318" y="300736"/>
                  </a:cubicBezTo>
                  <a:lnTo>
                    <a:pt x="495300" y="266700"/>
                  </a:lnTo>
                  <a:lnTo>
                    <a:pt x="533400" y="266700"/>
                  </a:lnTo>
                  <a:cubicBezTo>
                    <a:pt x="533400" y="414020"/>
                    <a:pt x="414020" y="533400"/>
                    <a:pt x="266700" y="533400"/>
                  </a:cubicBezTo>
                  <a:lnTo>
                    <a:pt x="266700" y="495300"/>
                  </a:lnTo>
                  <a:lnTo>
                    <a:pt x="266700" y="533400"/>
                  </a:lnTo>
                  <a:cubicBezTo>
                    <a:pt x="119380" y="533400"/>
                    <a:pt x="0" y="414020"/>
                    <a:pt x="0" y="266700"/>
                  </a:cubicBezTo>
                  <a:lnTo>
                    <a:pt x="38100" y="266700"/>
                  </a:lnTo>
                  <a:lnTo>
                    <a:pt x="0" y="266700"/>
                  </a:lnTo>
                  <a:moveTo>
                    <a:pt x="76200" y="266700"/>
                  </a:moveTo>
                  <a:lnTo>
                    <a:pt x="38100" y="266700"/>
                  </a:lnTo>
                  <a:lnTo>
                    <a:pt x="76200" y="266700"/>
                  </a:lnTo>
                  <a:cubicBezTo>
                    <a:pt x="76200" y="371856"/>
                    <a:pt x="161544" y="457200"/>
                    <a:pt x="266700" y="457200"/>
                  </a:cubicBezTo>
                  <a:cubicBezTo>
                    <a:pt x="371856" y="457200"/>
                    <a:pt x="457200" y="371856"/>
                    <a:pt x="457200" y="266700"/>
                  </a:cubicBezTo>
                  <a:cubicBezTo>
                    <a:pt x="457200" y="252222"/>
                    <a:pt x="465328" y="239014"/>
                    <a:pt x="478282" y="232664"/>
                  </a:cubicBezTo>
                  <a:lnTo>
                    <a:pt x="495300" y="266700"/>
                  </a:lnTo>
                  <a:lnTo>
                    <a:pt x="457200" y="266700"/>
                  </a:lnTo>
                  <a:cubicBezTo>
                    <a:pt x="457200" y="161544"/>
                    <a:pt x="371856" y="76200"/>
                    <a:pt x="266700" y="76200"/>
                  </a:cubicBezTo>
                  <a:cubicBezTo>
                    <a:pt x="255778" y="76200"/>
                    <a:pt x="245491" y="71501"/>
                    <a:pt x="238252" y="63373"/>
                  </a:cubicBezTo>
                  <a:lnTo>
                    <a:pt x="266700" y="38100"/>
                  </a:lnTo>
                  <a:lnTo>
                    <a:pt x="266700" y="76200"/>
                  </a:lnTo>
                  <a:cubicBezTo>
                    <a:pt x="161544" y="76200"/>
                    <a:pt x="76200" y="161544"/>
                    <a:pt x="76200" y="266700"/>
                  </a:cubicBezTo>
                  <a:close/>
                </a:path>
              </a:pathLst>
            </a:custGeom>
            <a:solidFill>
              <a:srgbClr val="06B6D4"/>
            </a:solidFill>
          </p:spPr>
        </p:sp>
      </p:grpSp>
      <p:grpSp>
        <p:nvGrpSpPr>
          <p:cNvPr name="Group 31" id="31"/>
          <p:cNvGrpSpPr/>
          <p:nvPr/>
        </p:nvGrpSpPr>
        <p:grpSpPr>
          <a:xfrm rot="0">
            <a:off x="11098263" y="5800725"/>
            <a:ext cx="400050" cy="400050"/>
            <a:chOff x="0" y="0"/>
            <a:chExt cx="533400" cy="533400"/>
          </a:xfrm>
        </p:grpSpPr>
        <p:sp>
          <p:nvSpPr>
            <p:cNvPr name="Freeform 32" id="32"/>
            <p:cNvSpPr/>
            <p:nvPr/>
          </p:nvSpPr>
          <p:spPr>
            <a:xfrm flipH="false" flipV="false" rot="0">
              <a:off x="38100" y="3810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0B132B"/>
            </a:solidFill>
          </p:spPr>
        </p:sp>
        <p:sp>
          <p:nvSpPr>
            <p:cNvPr name="Freeform 33" id="33"/>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277622" y="0"/>
                    <a:pt x="287909" y="4699"/>
                    <a:pt x="295148" y="12827"/>
                  </a:cubicBezTo>
                  <a:lnTo>
                    <a:pt x="266700" y="38100"/>
                  </a:lnTo>
                  <a:lnTo>
                    <a:pt x="266700" y="0"/>
                  </a:lnTo>
                  <a:lnTo>
                    <a:pt x="266700" y="38100"/>
                  </a:lnTo>
                  <a:lnTo>
                    <a:pt x="266700" y="0"/>
                  </a:lnTo>
                  <a:cubicBezTo>
                    <a:pt x="414020" y="0"/>
                    <a:pt x="533400" y="119380"/>
                    <a:pt x="533400" y="266700"/>
                  </a:cubicBezTo>
                  <a:cubicBezTo>
                    <a:pt x="533400" y="281178"/>
                    <a:pt x="525272" y="294386"/>
                    <a:pt x="512318" y="300736"/>
                  </a:cubicBezTo>
                  <a:lnTo>
                    <a:pt x="495300" y="266700"/>
                  </a:lnTo>
                  <a:lnTo>
                    <a:pt x="533400" y="266700"/>
                  </a:lnTo>
                  <a:cubicBezTo>
                    <a:pt x="533400" y="414020"/>
                    <a:pt x="414020" y="533400"/>
                    <a:pt x="266700" y="533400"/>
                  </a:cubicBezTo>
                  <a:lnTo>
                    <a:pt x="266700" y="495300"/>
                  </a:lnTo>
                  <a:lnTo>
                    <a:pt x="266700" y="533400"/>
                  </a:lnTo>
                  <a:cubicBezTo>
                    <a:pt x="119380" y="533400"/>
                    <a:pt x="0" y="414020"/>
                    <a:pt x="0" y="266700"/>
                  </a:cubicBezTo>
                  <a:lnTo>
                    <a:pt x="38100" y="266700"/>
                  </a:lnTo>
                  <a:lnTo>
                    <a:pt x="0" y="266700"/>
                  </a:lnTo>
                  <a:moveTo>
                    <a:pt x="76200" y="266700"/>
                  </a:moveTo>
                  <a:lnTo>
                    <a:pt x="38100" y="266700"/>
                  </a:lnTo>
                  <a:lnTo>
                    <a:pt x="76200" y="266700"/>
                  </a:lnTo>
                  <a:cubicBezTo>
                    <a:pt x="76200" y="371856"/>
                    <a:pt x="161544" y="457200"/>
                    <a:pt x="266700" y="457200"/>
                  </a:cubicBezTo>
                  <a:cubicBezTo>
                    <a:pt x="371856" y="457200"/>
                    <a:pt x="457200" y="371856"/>
                    <a:pt x="457200" y="266700"/>
                  </a:cubicBezTo>
                  <a:cubicBezTo>
                    <a:pt x="457200" y="252222"/>
                    <a:pt x="465328" y="239014"/>
                    <a:pt x="478282" y="232664"/>
                  </a:cubicBezTo>
                  <a:lnTo>
                    <a:pt x="495300" y="266700"/>
                  </a:lnTo>
                  <a:lnTo>
                    <a:pt x="457200" y="266700"/>
                  </a:lnTo>
                  <a:cubicBezTo>
                    <a:pt x="457200" y="161544"/>
                    <a:pt x="371856" y="76200"/>
                    <a:pt x="266700" y="76200"/>
                  </a:cubicBezTo>
                  <a:cubicBezTo>
                    <a:pt x="255778" y="76200"/>
                    <a:pt x="245491" y="71501"/>
                    <a:pt x="238252" y="63373"/>
                  </a:cubicBezTo>
                  <a:lnTo>
                    <a:pt x="266700" y="38100"/>
                  </a:lnTo>
                  <a:lnTo>
                    <a:pt x="266700" y="76200"/>
                  </a:lnTo>
                  <a:cubicBezTo>
                    <a:pt x="161544" y="76200"/>
                    <a:pt x="76200" y="161544"/>
                    <a:pt x="76200" y="266700"/>
                  </a:cubicBezTo>
                  <a:close/>
                </a:path>
              </a:pathLst>
            </a:custGeom>
            <a:solidFill>
              <a:srgbClr val="06B6D4"/>
            </a:solidFill>
          </p:spPr>
        </p:sp>
      </p:grpSp>
      <p:grpSp>
        <p:nvGrpSpPr>
          <p:cNvPr name="Group 34" id="34"/>
          <p:cNvGrpSpPr/>
          <p:nvPr/>
        </p:nvGrpSpPr>
        <p:grpSpPr>
          <a:xfrm rot="0">
            <a:off x="15407278" y="5800725"/>
            <a:ext cx="400050" cy="400050"/>
            <a:chOff x="0" y="0"/>
            <a:chExt cx="533400" cy="533400"/>
          </a:xfrm>
        </p:grpSpPr>
        <p:sp>
          <p:nvSpPr>
            <p:cNvPr name="Freeform 35" id="35"/>
            <p:cNvSpPr/>
            <p:nvPr/>
          </p:nvSpPr>
          <p:spPr>
            <a:xfrm flipH="false" flipV="false" rot="0">
              <a:off x="38100" y="3810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0B132B"/>
            </a:solidFill>
          </p:spPr>
        </p:sp>
        <p:sp>
          <p:nvSpPr>
            <p:cNvPr name="Freeform 36" id="36"/>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277622" y="0"/>
                    <a:pt x="287909" y="4699"/>
                    <a:pt x="295148" y="12827"/>
                  </a:cubicBezTo>
                  <a:lnTo>
                    <a:pt x="266700" y="38100"/>
                  </a:lnTo>
                  <a:lnTo>
                    <a:pt x="266700" y="0"/>
                  </a:lnTo>
                  <a:lnTo>
                    <a:pt x="266700" y="38100"/>
                  </a:lnTo>
                  <a:lnTo>
                    <a:pt x="266700" y="0"/>
                  </a:lnTo>
                  <a:cubicBezTo>
                    <a:pt x="414020" y="0"/>
                    <a:pt x="533400" y="119380"/>
                    <a:pt x="533400" y="266700"/>
                  </a:cubicBezTo>
                  <a:cubicBezTo>
                    <a:pt x="533400" y="281178"/>
                    <a:pt x="525272" y="294386"/>
                    <a:pt x="512318" y="300736"/>
                  </a:cubicBezTo>
                  <a:lnTo>
                    <a:pt x="495300" y="266700"/>
                  </a:lnTo>
                  <a:lnTo>
                    <a:pt x="533400" y="266700"/>
                  </a:lnTo>
                  <a:cubicBezTo>
                    <a:pt x="533400" y="414020"/>
                    <a:pt x="414020" y="533400"/>
                    <a:pt x="266700" y="533400"/>
                  </a:cubicBezTo>
                  <a:lnTo>
                    <a:pt x="266700" y="495300"/>
                  </a:lnTo>
                  <a:lnTo>
                    <a:pt x="266700" y="533400"/>
                  </a:lnTo>
                  <a:cubicBezTo>
                    <a:pt x="119380" y="533400"/>
                    <a:pt x="0" y="414020"/>
                    <a:pt x="0" y="266700"/>
                  </a:cubicBezTo>
                  <a:lnTo>
                    <a:pt x="38100" y="266700"/>
                  </a:lnTo>
                  <a:lnTo>
                    <a:pt x="0" y="266700"/>
                  </a:lnTo>
                  <a:moveTo>
                    <a:pt x="76200" y="266700"/>
                  </a:moveTo>
                  <a:lnTo>
                    <a:pt x="38100" y="266700"/>
                  </a:lnTo>
                  <a:lnTo>
                    <a:pt x="76200" y="266700"/>
                  </a:lnTo>
                  <a:cubicBezTo>
                    <a:pt x="76200" y="371856"/>
                    <a:pt x="161544" y="457200"/>
                    <a:pt x="266700" y="457200"/>
                  </a:cubicBezTo>
                  <a:cubicBezTo>
                    <a:pt x="371856" y="457200"/>
                    <a:pt x="457200" y="371856"/>
                    <a:pt x="457200" y="266700"/>
                  </a:cubicBezTo>
                  <a:cubicBezTo>
                    <a:pt x="457200" y="252222"/>
                    <a:pt x="465328" y="239014"/>
                    <a:pt x="478282" y="232664"/>
                  </a:cubicBezTo>
                  <a:lnTo>
                    <a:pt x="495300" y="266700"/>
                  </a:lnTo>
                  <a:lnTo>
                    <a:pt x="457200" y="266700"/>
                  </a:lnTo>
                  <a:cubicBezTo>
                    <a:pt x="457200" y="161544"/>
                    <a:pt x="371856" y="76200"/>
                    <a:pt x="266700" y="76200"/>
                  </a:cubicBezTo>
                  <a:cubicBezTo>
                    <a:pt x="255778" y="76200"/>
                    <a:pt x="245491" y="71501"/>
                    <a:pt x="238252" y="63373"/>
                  </a:cubicBezTo>
                  <a:lnTo>
                    <a:pt x="266700" y="38100"/>
                  </a:lnTo>
                  <a:lnTo>
                    <a:pt x="266700" y="76200"/>
                  </a:lnTo>
                  <a:cubicBezTo>
                    <a:pt x="161544" y="76200"/>
                    <a:pt x="76200" y="161544"/>
                    <a:pt x="76200" y="266700"/>
                  </a:cubicBezTo>
                  <a:close/>
                </a:path>
              </a:pathLst>
            </a:custGeom>
            <a:solidFill>
              <a:srgbClr val="06B6D4"/>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4384000" cy="13716000"/>
              <a:chOff x="0" y="0"/>
              <a:chExt cx="24384000" cy="13716000"/>
            </a:xfrm>
          </p:grpSpPr>
          <p:sp>
            <p:nvSpPr>
              <p:cNvPr name="Freeform 4" id="4"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5" id="5"/>
            <p:cNvSpPr txBox="true"/>
            <p:nvPr/>
          </p:nvSpPr>
          <p:spPr>
            <a:xfrm rot="0">
              <a:off x="1428750" y="1114425"/>
              <a:ext cx="8731448" cy="1857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第一阶段-环境搭建与 KuaiSearch 数据跑通</a:t>
              </a:r>
            </a:p>
          </p:txBody>
        </p:sp>
        <p:grpSp>
          <p:nvGrpSpPr>
            <p:cNvPr name="Group 6" id="6"/>
            <p:cNvGrpSpPr/>
            <p:nvPr/>
          </p:nvGrpSpPr>
          <p:grpSpPr>
            <a:xfrm rot="0">
              <a:off x="1101090" y="1143000"/>
              <a:ext cx="114300" cy="762000"/>
              <a:chOff x="0" y="0"/>
              <a:chExt cx="114300" cy="762000"/>
            </a:xfrm>
          </p:grpSpPr>
          <p:sp>
            <p:nvSpPr>
              <p:cNvPr name="Freeform 7" id="7"/>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grpSp>
      <p:grpSp>
        <p:nvGrpSpPr>
          <p:cNvPr name="Group 8" id="8"/>
          <p:cNvGrpSpPr/>
          <p:nvPr/>
        </p:nvGrpSpPr>
        <p:grpSpPr>
          <a:xfrm rot="0">
            <a:off x="784764" y="2491740"/>
            <a:ext cx="85725" cy="571500"/>
            <a:chOff x="0" y="0"/>
            <a:chExt cx="114300" cy="762000"/>
          </a:xfrm>
        </p:grpSpPr>
        <p:sp>
          <p:nvSpPr>
            <p:cNvPr name="Freeform 9" id="9"/>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10" id="10"/>
          <p:cNvSpPr/>
          <p:nvPr/>
        </p:nvSpPr>
        <p:spPr>
          <a:xfrm flipH="false" flipV="false" rot="0">
            <a:off x="8227034" y="3177540"/>
            <a:ext cx="9593652" cy="3930253"/>
          </a:xfrm>
          <a:custGeom>
            <a:avLst/>
            <a:gdLst/>
            <a:ahLst/>
            <a:cxnLst/>
            <a:rect r="r" b="b" t="t" l="l"/>
            <a:pathLst>
              <a:path h="3930253" w="9593652">
                <a:moveTo>
                  <a:pt x="0" y="0"/>
                </a:moveTo>
                <a:lnTo>
                  <a:pt x="9593652" y="0"/>
                </a:lnTo>
                <a:lnTo>
                  <a:pt x="9593652" y="3930253"/>
                </a:lnTo>
                <a:lnTo>
                  <a:pt x="0" y="3930253"/>
                </a:lnTo>
                <a:lnTo>
                  <a:pt x="0" y="0"/>
                </a:lnTo>
                <a:close/>
              </a:path>
            </a:pathLst>
          </a:custGeom>
          <a:blipFill>
            <a:blip r:embed="rId4"/>
            <a:stretch>
              <a:fillRect l="-2418" t="0" r="0" b="0"/>
            </a:stretch>
          </a:blipFill>
        </p:spPr>
      </p:sp>
      <p:sp>
        <p:nvSpPr>
          <p:cNvPr name="TextBox 11" id="11"/>
          <p:cNvSpPr txBox="true"/>
          <p:nvPr/>
        </p:nvSpPr>
        <p:spPr>
          <a:xfrm rot="0">
            <a:off x="7086600" y="690916"/>
            <a:ext cx="10995660" cy="2086574"/>
          </a:xfrm>
          <a:prstGeom prst="rect">
            <a:avLst/>
          </a:prstGeom>
        </p:spPr>
        <p:txBody>
          <a:bodyPr anchor="t" rtlCol="false" tIns="0" lIns="0" bIns="0" rIns="0">
            <a:spAutoFit/>
          </a:bodyPr>
          <a:lstStyle/>
          <a:p>
            <a:pPr algn="l" marL="0" indent="0" lvl="0">
              <a:lnSpc>
                <a:spcPts val="4242"/>
              </a:lnSpc>
              <a:spcBef>
                <a:spcPct val="0"/>
              </a:spcBef>
            </a:pPr>
            <a:r>
              <a:rPr lang="en-US" sz="2209" strike="noStrike" u="none">
                <a:solidFill>
                  <a:srgbClr val="94A3B8"/>
                </a:solidFill>
                <a:latin typeface="Inter"/>
                <a:ea typeface="Inter"/>
                <a:cs typeface="Inter"/>
                <a:sym typeface="Inter"/>
              </a:rPr>
              <a:t>项目最初基于 Windows + Conda 环境进行开发</a:t>
            </a:r>
          </a:p>
          <a:p>
            <a:pPr algn="l" marL="0" indent="0" lvl="0">
              <a:lnSpc>
                <a:spcPts val="4242"/>
              </a:lnSpc>
              <a:spcBef>
                <a:spcPct val="0"/>
              </a:spcBef>
            </a:pPr>
            <a:r>
              <a:rPr lang="en-US" sz="2209" strike="noStrike" u="none">
                <a:solidFill>
                  <a:srgbClr val="94A3B8"/>
                </a:solidFill>
                <a:latin typeface="Inter"/>
                <a:ea typeface="Inter"/>
                <a:cs typeface="Inter"/>
                <a:sym typeface="Inter"/>
              </a:rPr>
              <a:t>此阶段重点是：拉取 KuaiSearch 代码；下载 Lite 数据；理解原仓库中 recall/、ranking/、relevance/ 的入口和数据流；</a:t>
            </a:r>
          </a:p>
          <a:p>
            <a:pPr algn="l" marL="0" indent="0" lvl="0">
              <a:lnSpc>
                <a:spcPts val="4242"/>
              </a:lnSpc>
              <a:spcBef>
                <a:spcPct val="0"/>
              </a:spcBef>
            </a:pPr>
          </a:p>
        </p:txBody>
      </p:sp>
      <p:sp>
        <p:nvSpPr>
          <p:cNvPr name="TextBox 12" id="12"/>
          <p:cNvSpPr txBox="true"/>
          <p:nvPr/>
        </p:nvSpPr>
        <p:spPr>
          <a:xfrm rot="0">
            <a:off x="1028700" y="2463165"/>
            <a:ext cx="6548586" cy="14001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第二阶段-最小广告生成 pipeline</a:t>
            </a:r>
          </a:p>
        </p:txBody>
      </p:sp>
      <p:sp>
        <p:nvSpPr>
          <p:cNvPr name="TextBox 13" id="13"/>
          <p:cNvSpPr txBox="true"/>
          <p:nvPr/>
        </p:nvSpPr>
        <p:spPr>
          <a:xfrm rot="0">
            <a:off x="870489" y="3710940"/>
            <a:ext cx="6706798" cy="5817766"/>
          </a:xfrm>
          <a:prstGeom prst="rect">
            <a:avLst/>
          </a:prstGeom>
        </p:spPr>
        <p:txBody>
          <a:bodyPr anchor="t" rtlCol="false" tIns="0" lIns="0" bIns="0" rIns="0">
            <a:spAutoFit/>
          </a:bodyPr>
          <a:lstStyle/>
          <a:p>
            <a:pPr algn="l" marL="0" indent="0" lvl="0">
              <a:lnSpc>
                <a:spcPts val="4242"/>
              </a:lnSpc>
              <a:spcBef>
                <a:spcPct val="0"/>
              </a:spcBef>
            </a:pPr>
            <a:r>
              <a:rPr lang="en-US" sz="2209" strike="noStrike" u="none">
                <a:solidFill>
                  <a:srgbClr val="94A3B8"/>
                </a:solidFill>
                <a:latin typeface="Inter"/>
                <a:ea typeface="Inter"/>
                <a:cs typeface="Inter"/>
                <a:sym typeface="Inter"/>
              </a:rPr>
              <a:t>在原始搜索框架外新增 ad_generation/ 模块，第一版只支持：</a:t>
            </a:r>
          </a:p>
          <a:p>
            <a:pPr algn="l" marL="0" indent="0" lvl="0">
              <a:lnSpc>
                <a:spcPts val="4242"/>
              </a:lnSpc>
              <a:spcBef>
                <a:spcPct val="0"/>
              </a:spcBef>
            </a:pPr>
            <a:r>
              <a:rPr lang="en-US" sz="2209" strike="noStrike" u="none">
                <a:solidFill>
                  <a:srgbClr val="94A3B8"/>
                </a:solidFill>
                <a:latin typeface="Inter"/>
                <a:ea typeface="Inter"/>
                <a:cs typeface="Inter"/>
                <a:sym typeface="Inter"/>
              </a:rPr>
              <a:t>输入：query + top-k 商品</a:t>
            </a:r>
          </a:p>
          <a:p>
            <a:pPr algn="l" marL="0" indent="0" lvl="0">
              <a:lnSpc>
                <a:spcPts val="4242"/>
              </a:lnSpc>
              <a:spcBef>
                <a:spcPct val="0"/>
              </a:spcBef>
            </a:pPr>
            <a:r>
              <a:rPr lang="en-US" sz="2209" strike="noStrike" u="none">
                <a:solidFill>
                  <a:srgbClr val="94A3B8"/>
                </a:solidFill>
                <a:latin typeface="Inter"/>
                <a:ea typeface="Inter"/>
                <a:cs typeface="Inter"/>
                <a:sym typeface="Inter"/>
              </a:rPr>
              <a:t>输出：一条中文广告文案</a:t>
            </a:r>
          </a:p>
          <a:p>
            <a:pPr algn="l" marL="0" indent="0" lvl="0">
              <a:lnSpc>
                <a:spcPts val="4242"/>
              </a:lnSpc>
              <a:spcBef>
                <a:spcPct val="0"/>
              </a:spcBef>
            </a:pPr>
            <a:r>
              <a:rPr lang="en-US" sz="2209" strike="noStrike" u="none">
                <a:solidFill>
                  <a:srgbClr val="94A3B8"/>
                </a:solidFill>
                <a:latin typeface="Inter"/>
                <a:ea typeface="Inter"/>
                <a:cs typeface="Inter"/>
                <a:sym typeface="Inter"/>
              </a:rPr>
              <a:t>新增： build_train_pairs.py 负责从 rank 数据中抽取点击或购买过的正样本商品，构造 query 与商品证据之间的训练对；prompt_builder.py 负责构造用户上下文、商品证据块、prompt 和模板文案；infer.py 负责命令行推理，优先从 train_pairs.jsonl 命中 query，没有命中则回退到 rank 数据，再不命中则使用 lexical overlap 检索。</a:t>
            </a:r>
          </a:p>
        </p:txBody>
      </p:sp>
      <p:sp>
        <p:nvSpPr>
          <p:cNvPr name="TextBox 14" id="14"/>
          <p:cNvSpPr txBox="true"/>
          <p:nvPr/>
        </p:nvSpPr>
        <p:spPr>
          <a:xfrm rot="0">
            <a:off x="8227034" y="7200138"/>
            <a:ext cx="9855226" cy="2469642"/>
          </a:xfrm>
          <a:prstGeom prst="rect">
            <a:avLst/>
          </a:prstGeom>
        </p:spPr>
        <p:txBody>
          <a:bodyPr anchor="t" rtlCol="false" tIns="0" lIns="0" bIns="0" rIns="0">
            <a:spAutoFit/>
          </a:bodyPr>
          <a:lstStyle/>
          <a:p>
            <a:pPr algn="l">
              <a:lnSpc>
                <a:spcPts val="4015"/>
              </a:lnSpc>
              <a:spcBef>
                <a:spcPct val="0"/>
              </a:spcBef>
            </a:pPr>
            <a:r>
              <a:rPr lang="en-US" sz="2091">
                <a:solidFill>
                  <a:srgbClr val="FFFFFF"/>
                </a:solidFill>
                <a:latin typeface="Inter"/>
                <a:ea typeface="Inter"/>
                <a:cs typeface="Inter"/>
                <a:sym typeface="Inter"/>
              </a:rPr>
              <a:t>第一版产物成功生成：</a:t>
            </a:r>
          </a:p>
          <a:p>
            <a:pPr algn="l">
              <a:lnSpc>
                <a:spcPts val="4015"/>
              </a:lnSpc>
              <a:spcBef>
                <a:spcPct val="0"/>
              </a:spcBef>
            </a:pPr>
            <a:r>
              <a:rPr lang="en-US" sz="2091">
                <a:solidFill>
                  <a:srgbClr val="FFFFFF"/>
                </a:solidFill>
                <a:latin typeface="Inter"/>
                <a:ea typeface="Inter"/>
                <a:cs typeface="Inter"/>
                <a:sym typeface="Inter"/>
              </a:rPr>
              <a:t>ad_generation/data/train_pairs.jsonl</a:t>
            </a:r>
          </a:p>
          <a:p>
            <a:pPr algn="l">
              <a:lnSpc>
                <a:spcPts val="4015"/>
              </a:lnSpc>
              <a:spcBef>
                <a:spcPct val="0"/>
              </a:spcBef>
            </a:pPr>
            <a:r>
              <a:rPr lang="en-US" sz="2091">
                <a:solidFill>
                  <a:srgbClr val="FFFFFF"/>
                </a:solidFill>
                <a:latin typeface="Inter"/>
                <a:ea typeface="Inter"/>
                <a:cs typeface="Inter"/>
                <a:sym typeface="Inter"/>
              </a:rPr>
              <a:t>运行日志显示，真实 Lite 数据最终生成了 167,079 条训练样本，去重 query 数也是 167,079，并完成了最小质量检查：target_copy、evidence_items、target_item 空值均为 0，recent_behavior_titles 平均长度约为 4.96。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71562" y="828675"/>
            <a:ext cx="11143446"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第三阶段-弱个性化与 summary 规则增强</a:t>
            </a:r>
          </a:p>
        </p:txBody>
      </p:sp>
      <p:grpSp>
        <p:nvGrpSpPr>
          <p:cNvPr name="Group 5" id="5"/>
          <p:cNvGrpSpPr/>
          <p:nvPr/>
        </p:nvGrpSpPr>
        <p:grpSpPr>
          <a:xfrm rot="0">
            <a:off x="825818" y="857250"/>
            <a:ext cx="85725" cy="571500"/>
            <a:chOff x="0" y="0"/>
            <a:chExt cx="114300" cy="762000"/>
          </a:xfrm>
        </p:grpSpPr>
        <p:sp>
          <p:nvSpPr>
            <p:cNvPr name="Freeform 6" id="6"/>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7" id="7"/>
          <p:cNvSpPr/>
          <p:nvPr/>
        </p:nvSpPr>
        <p:spPr>
          <a:xfrm flipH="false" flipV="false" rot="0">
            <a:off x="803446" y="2868099"/>
            <a:ext cx="8809412" cy="5814212"/>
          </a:xfrm>
          <a:custGeom>
            <a:avLst/>
            <a:gdLst/>
            <a:ahLst/>
            <a:cxnLst/>
            <a:rect r="r" b="b" t="t" l="l"/>
            <a:pathLst>
              <a:path h="5814212" w="8809412">
                <a:moveTo>
                  <a:pt x="0" y="0"/>
                </a:moveTo>
                <a:lnTo>
                  <a:pt x="8809413" y="0"/>
                </a:lnTo>
                <a:lnTo>
                  <a:pt x="8809413" y="5814212"/>
                </a:lnTo>
                <a:lnTo>
                  <a:pt x="0" y="5814212"/>
                </a:lnTo>
                <a:lnTo>
                  <a:pt x="0" y="0"/>
                </a:lnTo>
                <a:close/>
              </a:path>
            </a:pathLst>
          </a:custGeom>
          <a:blipFill>
            <a:blip r:embed="rId4"/>
            <a:stretch>
              <a:fillRect l="0" t="0" r="0" b="0"/>
            </a:stretch>
          </a:blipFill>
        </p:spPr>
      </p:sp>
      <p:sp>
        <p:nvSpPr>
          <p:cNvPr name="TextBox 8" id="8"/>
          <p:cNvSpPr txBox="true"/>
          <p:nvPr/>
        </p:nvSpPr>
        <p:spPr>
          <a:xfrm rot="0">
            <a:off x="803446" y="1483821"/>
            <a:ext cx="11832295" cy="1561661"/>
          </a:xfrm>
          <a:prstGeom prst="rect">
            <a:avLst/>
          </a:prstGeom>
        </p:spPr>
        <p:txBody>
          <a:bodyPr anchor="t" rtlCol="false" tIns="0" lIns="0" bIns="0" rIns="0">
            <a:spAutoFit/>
          </a:bodyPr>
          <a:lstStyle/>
          <a:p>
            <a:pPr algn="l" marL="0" indent="0" lvl="0">
              <a:lnSpc>
                <a:spcPts val="4242"/>
              </a:lnSpc>
              <a:spcBef>
                <a:spcPct val="0"/>
              </a:spcBef>
            </a:pPr>
            <a:r>
              <a:rPr lang="en-US" sz="2209" strike="noStrike" u="none">
                <a:solidFill>
                  <a:srgbClr val="94A3B8"/>
                </a:solidFill>
                <a:latin typeface="Inter"/>
                <a:ea typeface="Inter"/>
                <a:cs typeface="Inter"/>
                <a:sym typeface="Inter"/>
              </a:rPr>
              <a:t>第二版将 infer.py 从单纯 query 级推理升级为支持 user_id / session_id 的弱个性化广告推理。</a:t>
            </a:r>
          </a:p>
          <a:p>
            <a:pPr algn="l" marL="0" indent="0" lvl="0">
              <a:lnSpc>
                <a:spcPts val="4242"/>
              </a:lnSpc>
              <a:spcBef>
                <a:spcPct val="0"/>
              </a:spcBef>
            </a:pPr>
            <a:r>
              <a:rPr lang="en-US" sz="2209" strike="noStrike" u="none">
                <a:solidFill>
                  <a:srgbClr val="94A3B8"/>
                </a:solidFill>
                <a:latin typeface="Inter"/>
                <a:ea typeface="Inter"/>
                <a:cs typeface="Inter"/>
                <a:sym typeface="Inter"/>
              </a:rPr>
              <a:t>新增或强化的能力包括：</a:t>
            </a:r>
          </a:p>
          <a:p>
            <a:pPr algn="l" marL="0" indent="0" lvl="0">
              <a:lnSpc>
                <a:spcPts val="4242"/>
              </a:lnSpc>
              <a:spcBef>
                <a:spcPct val="0"/>
              </a:spcBef>
            </a:pPr>
          </a:p>
        </p:txBody>
      </p:sp>
      <p:sp>
        <p:nvSpPr>
          <p:cNvPr name="TextBox 9" id="9"/>
          <p:cNvSpPr txBox="true"/>
          <p:nvPr/>
        </p:nvSpPr>
        <p:spPr>
          <a:xfrm rot="0">
            <a:off x="10275341" y="5531545"/>
            <a:ext cx="6983959" cy="3150766"/>
          </a:xfrm>
          <a:prstGeom prst="rect">
            <a:avLst/>
          </a:prstGeom>
        </p:spPr>
        <p:txBody>
          <a:bodyPr anchor="t" rtlCol="false" tIns="0" lIns="0" bIns="0" rIns="0">
            <a:spAutoFit/>
          </a:bodyPr>
          <a:lstStyle/>
          <a:p>
            <a:pPr algn="l" marL="0" indent="0" lvl="0">
              <a:lnSpc>
                <a:spcPts val="4242"/>
              </a:lnSpc>
              <a:spcBef>
                <a:spcPct val="0"/>
              </a:spcBef>
            </a:pPr>
            <a:r>
              <a:rPr lang="en-US" sz="2209" strike="noStrike" u="none">
                <a:solidFill>
                  <a:srgbClr val="94A3B8"/>
                </a:solidFill>
                <a:latin typeface="Inter"/>
                <a:ea typeface="Inter"/>
                <a:cs typeface="Inter"/>
                <a:sym typeface="Inter"/>
              </a:rPr>
              <a:t>第三版进一步增加了 summary 风格文案生成：它不只看 top-1 商品，而是提炼 top-k 商品中的共同品牌、类目、属性或标题共性，生成更自然的短文案；如果证据不足，则自动回退到 template 模式。运行日志明确要求不得编造价格、销量、优惠、功效、材质等未明确给出的信息。</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25818"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6" id="6"/>
          <p:cNvSpPr/>
          <p:nvPr/>
        </p:nvSpPr>
        <p:spPr>
          <a:xfrm flipH="false" flipV="false" rot="0">
            <a:off x="803446" y="3382054"/>
            <a:ext cx="4203070" cy="5876246"/>
          </a:xfrm>
          <a:custGeom>
            <a:avLst/>
            <a:gdLst/>
            <a:ahLst/>
            <a:cxnLst/>
            <a:rect r="r" b="b" t="t" l="l"/>
            <a:pathLst>
              <a:path h="5876246" w="4203070">
                <a:moveTo>
                  <a:pt x="0" y="0"/>
                </a:moveTo>
                <a:lnTo>
                  <a:pt x="4203070" y="0"/>
                </a:lnTo>
                <a:lnTo>
                  <a:pt x="4203070" y="5876246"/>
                </a:lnTo>
                <a:lnTo>
                  <a:pt x="0" y="5876246"/>
                </a:lnTo>
                <a:lnTo>
                  <a:pt x="0" y="0"/>
                </a:lnTo>
                <a:close/>
              </a:path>
            </a:pathLst>
          </a:custGeom>
          <a:blipFill>
            <a:blip r:embed="rId4"/>
            <a:stretch>
              <a:fillRect l="0" t="0" r="-101163" b="0"/>
            </a:stretch>
          </a:blipFill>
        </p:spPr>
      </p:sp>
      <p:sp>
        <p:nvSpPr>
          <p:cNvPr name="TextBox 7" id="7"/>
          <p:cNvSpPr txBox="true"/>
          <p:nvPr/>
        </p:nvSpPr>
        <p:spPr>
          <a:xfrm rot="0">
            <a:off x="1071562" y="828675"/>
            <a:ext cx="11143446"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第四阶段- 动态创意生成框架</a:t>
            </a:r>
          </a:p>
        </p:txBody>
      </p:sp>
      <p:sp>
        <p:nvSpPr>
          <p:cNvPr name="TextBox 8" id="8"/>
          <p:cNvSpPr txBox="true"/>
          <p:nvPr/>
        </p:nvSpPr>
        <p:spPr>
          <a:xfrm rot="0">
            <a:off x="803446" y="1483821"/>
            <a:ext cx="12501074" cy="2098760"/>
          </a:xfrm>
          <a:prstGeom prst="rect">
            <a:avLst/>
          </a:prstGeom>
        </p:spPr>
        <p:txBody>
          <a:bodyPr anchor="t" rtlCol="false" tIns="0" lIns="0" bIns="0" rIns="0">
            <a:spAutoFit/>
          </a:bodyPr>
          <a:lstStyle/>
          <a:p>
            <a:pPr algn="l" marL="0" indent="0" lvl="0">
              <a:lnSpc>
                <a:spcPts val="4242"/>
              </a:lnSpc>
              <a:spcBef>
                <a:spcPct val="0"/>
              </a:spcBef>
            </a:pPr>
            <a:r>
              <a:rPr lang="en-US" sz="2209" strike="noStrike" u="none">
                <a:solidFill>
                  <a:srgbClr val="94A3B8"/>
                </a:solidFill>
                <a:latin typeface="Inter"/>
                <a:ea typeface="Inter"/>
                <a:cs typeface="Inter"/>
                <a:sym typeface="Inter"/>
              </a:rPr>
              <a:t>从</a:t>
            </a:r>
            <a:r>
              <a:rPr lang="en-US" sz="2209" strike="noStrike" u="none">
                <a:solidFill>
                  <a:srgbClr val="94A3B8"/>
                </a:solidFill>
                <a:latin typeface="Inter"/>
                <a:ea typeface="Inter"/>
                <a:cs typeface="Inter"/>
                <a:sym typeface="Inter"/>
              </a:rPr>
              <a:t>规则模板</a:t>
            </a:r>
            <a:r>
              <a:rPr lang="en-US" sz="2209" strike="noStrike" u="none">
                <a:solidFill>
                  <a:srgbClr val="94A3B8"/>
                </a:solidFill>
                <a:latin typeface="Inter"/>
                <a:ea typeface="Inter"/>
                <a:cs typeface="Inter"/>
                <a:sym typeface="Inter"/>
              </a:rPr>
              <a:t>升级为</a:t>
            </a:r>
            <a:r>
              <a:rPr lang="en-US" sz="2209" strike="noStrike" u="none">
                <a:solidFill>
                  <a:srgbClr val="94A3B8"/>
                </a:solidFill>
                <a:latin typeface="Inter"/>
                <a:ea typeface="Inter"/>
                <a:cs typeface="Inter"/>
                <a:sym typeface="Inter"/>
              </a:rPr>
              <a:t>“意图增强</a:t>
            </a:r>
            <a:r>
              <a:rPr lang="en-US" sz="2209" strike="noStrike" u="none">
                <a:solidFill>
                  <a:srgbClr val="94A3B8"/>
                </a:solidFill>
                <a:latin typeface="Inter"/>
                <a:ea typeface="Inter"/>
                <a:cs typeface="Inter"/>
                <a:sym typeface="Inter"/>
              </a:rPr>
              <a:t> </a:t>
            </a:r>
            <a:r>
              <a:rPr lang="en-US" sz="2209" strike="noStrike" u="none">
                <a:solidFill>
                  <a:srgbClr val="94A3B8"/>
                </a:solidFill>
                <a:latin typeface="Inter"/>
                <a:ea typeface="Inter"/>
                <a:cs typeface="Inter"/>
                <a:sym typeface="Inter"/>
              </a:rPr>
              <a:t>+</a:t>
            </a:r>
            <a:r>
              <a:rPr lang="en-US" sz="2209" strike="noStrike" u="none">
                <a:solidFill>
                  <a:srgbClr val="94A3B8"/>
                </a:solidFill>
                <a:latin typeface="Inter"/>
                <a:ea typeface="Inter"/>
                <a:cs typeface="Inter"/>
                <a:sym typeface="Inter"/>
              </a:rPr>
              <a:t> </a:t>
            </a:r>
            <a:r>
              <a:rPr lang="en-US" sz="2209" strike="noStrike" u="none">
                <a:solidFill>
                  <a:srgbClr val="94A3B8"/>
                </a:solidFill>
                <a:latin typeface="Inter"/>
                <a:ea typeface="Inter"/>
                <a:cs typeface="Inter"/>
                <a:sym typeface="Inter"/>
              </a:rPr>
              <a:t>证据选择</a:t>
            </a:r>
            <a:r>
              <a:rPr lang="en-US" sz="2209" strike="noStrike" u="none">
                <a:solidFill>
                  <a:srgbClr val="94A3B8"/>
                </a:solidFill>
                <a:latin typeface="Inter"/>
                <a:ea typeface="Inter"/>
                <a:cs typeface="Inter"/>
                <a:sym typeface="Inter"/>
              </a:rPr>
              <a:t> </a:t>
            </a:r>
            <a:r>
              <a:rPr lang="en-US" sz="2209" strike="noStrike" u="none">
                <a:solidFill>
                  <a:srgbClr val="94A3B8"/>
                </a:solidFill>
                <a:latin typeface="Inter"/>
                <a:ea typeface="Inter"/>
                <a:cs typeface="Inter"/>
                <a:sym typeface="Inter"/>
              </a:rPr>
              <a:t>+</a:t>
            </a:r>
            <a:r>
              <a:rPr lang="en-US" sz="2209" strike="noStrike" u="none">
                <a:solidFill>
                  <a:srgbClr val="94A3B8"/>
                </a:solidFill>
                <a:latin typeface="Inter"/>
                <a:ea typeface="Inter"/>
                <a:cs typeface="Inter"/>
                <a:sym typeface="Inter"/>
              </a:rPr>
              <a:t> </a:t>
            </a:r>
            <a:r>
              <a:rPr lang="en-US" sz="2209" strike="noStrike" u="none">
                <a:solidFill>
                  <a:srgbClr val="94A3B8"/>
                </a:solidFill>
                <a:latin typeface="Inter"/>
                <a:ea typeface="Inter"/>
                <a:cs typeface="Inter"/>
                <a:sym typeface="Inter"/>
              </a:rPr>
              <a:t>用户</a:t>
            </a:r>
            <a:r>
              <a:rPr lang="en-US" sz="2209" strike="noStrike" u="none">
                <a:solidFill>
                  <a:srgbClr val="94A3B8"/>
                </a:solidFill>
                <a:latin typeface="Inter"/>
                <a:ea typeface="Inter"/>
                <a:cs typeface="Inter"/>
                <a:sym typeface="Inter"/>
              </a:rPr>
              <a:t>弱</a:t>
            </a:r>
            <a:r>
              <a:rPr lang="en-US" sz="2209" strike="noStrike" u="none">
                <a:solidFill>
                  <a:srgbClr val="94A3B8"/>
                </a:solidFill>
                <a:latin typeface="Inter"/>
                <a:ea typeface="Inter"/>
                <a:cs typeface="Inter"/>
                <a:sym typeface="Inter"/>
              </a:rPr>
              <a:t>画像 + 风格检索 + LLM 多候选生成 + 后处</a:t>
            </a:r>
            <a:r>
              <a:rPr lang="en-US" sz="2209" strike="noStrike" u="none">
                <a:solidFill>
                  <a:srgbClr val="94A3B8"/>
                </a:solidFill>
                <a:latin typeface="Inter"/>
                <a:ea typeface="Inter"/>
                <a:cs typeface="Inter"/>
                <a:sym typeface="Inter"/>
              </a:rPr>
              <a:t>理</a:t>
            </a:r>
            <a:r>
              <a:rPr lang="en-US" sz="2209" strike="noStrike" u="none">
                <a:solidFill>
                  <a:srgbClr val="94A3B8"/>
                </a:solidFill>
                <a:latin typeface="Inter"/>
                <a:ea typeface="Inter"/>
                <a:cs typeface="Inter"/>
                <a:sym typeface="Inter"/>
              </a:rPr>
              <a:t>”</a:t>
            </a:r>
            <a:r>
              <a:rPr lang="en-US" sz="2209" strike="noStrike" u="none">
                <a:solidFill>
                  <a:srgbClr val="94A3B8"/>
                </a:solidFill>
                <a:latin typeface="Inter"/>
                <a:ea typeface="Inter"/>
                <a:cs typeface="Inter"/>
                <a:sym typeface="Inter"/>
              </a:rPr>
              <a:t>的</a:t>
            </a:r>
            <a:r>
              <a:rPr lang="en-US" sz="2209" strike="noStrike" u="none">
                <a:solidFill>
                  <a:srgbClr val="94A3B8"/>
                </a:solidFill>
                <a:latin typeface="Inter"/>
                <a:ea typeface="Inter"/>
                <a:cs typeface="Inter"/>
                <a:sym typeface="Inter"/>
              </a:rPr>
              <a:t>完整链路。</a:t>
            </a:r>
          </a:p>
          <a:p>
            <a:pPr algn="l" marL="0" indent="0" lvl="0">
              <a:lnSpc>
                <a:spcPts val="4242"/>
              </a:lnSpc>
              <a:spcBef>
                <a:spcPct val="0"/>
              </a:spcBef>
            </a:pPr>
            <a:r>
              <a:rPr lang="en-US" sz="2209" strike="noStrike" u="none">
                <a:solidFill>
                  <a:srgbClr val="94A3B8"/>
                </a:solidFill>
                <a:latin typeface="Inter"/>
                <a:ea typeface="Inter"/>
                <a:cs typeface="Inter"/>
                <a:sym typeface="Inter"/>
              </a:rPr>
              <a:t>总链路如下：</a:t>
            </a:r>
          </a:p>
          <a:p>
            <a:pPr algn="l" marL="0" indent="0" lvl="0">
              <a:lnSpc>
                <a:spcPts val="4242"/>
              </a:lnSpc>
              <a:spcBef>
                <a:spcPct val="0"/>
              </a:spcBef>
            </a:pPr>
          </a:p>
        </p:txBody>
      </p:sp>
      <p:sp>
        <p:nvSpPr>
          <p:cNvPr name="TextBox 9" id="9"/>
          <p:cNvSpPr txBox="true"/>
          <p:nvPr/>
        </p:nvSpPr>
        <p:spPr>
          <a:xfrm rot="0">
            <a:off x="6643286" y="3841010"/>
            <a:ext cx="8404622" cy="4815459"/>
          </a:xfrm>
          <a:prstGeom prst="rect">
            <a:avLst/>
          </a:prstGeom>
        </p:spPr>
        <p:txBody>
          <a:bodyPr anchor="t" rtlCol="false" tIns="0" lIns="0" bIns="0" rIns="0">
            <a:spAutoFit/>
          </a:bodyPr>
          <a:lstStyle/>
          <a:p>
            <a:pPr algn="l">
              <a:lnSpc>
                <a:spcPts val="3887"/>
              </a:lnSpc>
              <a:spcBef>
                <a:spcPct val="0"/>
              </a:spcBef>
            </a:pPr>
          </a:p>
          <a:p>
            <a:pPr algn="l">
              <a:lnSpc>
                <a:spcPts val="3887"/>
              </a:lnSpc>
              <a:spcBef>
                <a:spcPct val="0"/>
              </a:spcBef>
            </a:pPr>
            <a:r>
              <a:rPr lang="en-US" sz="2025">
                <a:solidFill>
                  <a:srgbClr val="FFFFFF"/>
                </a:solidFill>
                <a:latin typeface="Inter"/>
                <a:ea typeface="Inter"/>
                <a:cs typeface="Inter"/>
                <a:sym typeface="Inter"/>
              </a:rPr>
              <a:t> 动态广告创意生成框架；</a:t>
            </a:r>
          </a:p>
          <a:p>
            <a:pPr algn="l">
              <a:lnSpc>
                <a:spcPts val="3887"/>
              </a:lnSpc>
              <a:spcBef>
                <a:spcPct val="0"/>
              </a:spcBef>
            </a:pPr>
            <a:r>
              <a:rPr lang="en-US" sz="2025">
                <a:solidFill>
                  <a:srgbClr val="FFFFFF"/>
                </a:solidFill>
                <a:latin typeface="Inter"/>
                <a:ea typeface="Inter"/>
                <a:cs typeface="Inter"/>
                <a:sym typeface="Inter"/>
              </a:rPr>
              <a:t>local_fake 本地 mock provider；</a:t>
            </a:r>
          </a:p>
          <a:p>
            <a:pPr algn="l">
              <a:lnSpc>
                <a:spcPts val="3887"/>
              </a:lnSpc>
              <a:spcBef>
                <a:spcPct val="0"/>
              </a:spcBef>
            </a:pPr>
            <a:r>
              <a:rPr lang="en-US" sz="2025">
                <a:solidFill>
                  <a:srgbClr val="FFFFFF"/>
                </a:solidFill>
                <a:latin typeface="Inter"/>
                <a:ea typeface="Inter"/>
                <a:cs typeface="Inter"/>
                <a:sym typeface="Inter"/>
              </a:rPr>
              <a:t>deepseek_chat 真实 LLM API provider；</a:t>
            </a:r>
          </a:p>
          <a:p>
            <a:pPr algn="l">
              <a:lnSpc>
                <a:spcPts val="3887"/>
              </a:lnSpc>
              <a:spcBef>
                <a:spcPct val="0"/>
              </a:spcBef>
            </a:pPr>
            <a:r>
              <a:rPr lang="en-US" sz="2025">
                <a:solidFill>
                  <a:srgbClr val="FFFFFF"/>
                </a:solidFill>
                <a:latin typeface="Inter"/>
                <a:ea typeface="Inter"/>
                <a:cs typeface="Inter"/>
                <a:sym typeface="Inter"/>
              </a:rPr>
              <a:t>sft_local 本地 SFT / LoRA 预留入口；</a:t>
            </a:r>
          </a:p>
          <a:p>
            <a:pPr algn="l">
              <a:lnSpc>
                <a:spcPts val="3887"/>
              </a:lnSpc>
              <a:spcBef>
                <a:spcPct val="0"/>
              </a:spcBef>
            </a:pPr>
            <a:r>
              <a:rPr lang="en-US" sz="2025">
                <a:solidFill>
                  <a:srgbClr val="FFFFFF"/>
                </a:solidFill>
                <a:latin typeface="Inter"/>
                <a:ea typeface="Inter"/>
                <a:cs typeface="Inter"/>
                <a:sym typeface="Inter"/>
              </a:rPr>
              <a:t>DeepSeek 真实 API 生成链路验证；</a:t>
            </a:r>
          </a:p>
          <a:p>
            <a:pPr algn="l">
              <a:lnSpc>
                <a:spcPts val="3887"/>
              </a:lnSpc>
              <a:spcBef>
                <a:spcPct val="0"/>
              </a:spcBef>
            </a:pPr>
            <a:r>
              <a:rPr lang="en-US" sz="2025">
                <a:solidFill>
                  <a:srgbClr val="FFFFFF"/>
                </a:solidFill>
                <a:latin typeface="Inter"/>
                <a:ea typeface="Inter"/>
                <a:cs typeface="Inter"/>
                <a:sym typeface="Inter"/>
              </a:rPr>
              <a:t>真实 SFT 数据构造脚本；</a:t>
            </a:r>
          </a:p>
          <a:p>
            <a:pPr algn="l">
              <a:lnSpc>
                <a:spcPts val="3887"/>
              </a:lnSpc>
              <a:spcBef>
                <a:spcPct val="0"/>
              </a:spcBef>
            </a:pPr>
            <a:r>
              <a:rPr lang="en-US" sz="2025">
                <a:solidFill>
                  <a:srgbClr val="FFFFFF"/>
                </a:solidFill>
                <a:latin typeface="Inter"/>
                <a:ea typeface="Inter"/>
                <a:cs typeface="Inter"/>
                <a:sym typeface="Inter"/>
              </a:rPr>
              <a:t>SFT dry-run 训练链路验证；</a:t>
            </a:r>
          </a:p>
          <a:p>
            <a:pPr algn="l">
              <a:lnSpc>
                <a:spcPts val="3887"/>
              </a:lnSpc>
              <a:spcBef>
                <a:spcPct val="0"/>
              </a:spcBef>
            </a:pPr>
            <a:r>
              <a:rPr lang="en-US" sz="2025">
                <a:solidFill>
                  <a:srgbClr val="FFFFFF"/>
                </a:solidFill>
                <a:latin typeface="Inter"/>
                <a:ea typeface="Inter"/>
                <a:cs typeface="Inter"/>
                <a:sym typeface="Inter"/>
              </a:rPr>
              <a:t>runtime cache；</a:t>
            </a:r>
          </a:p>
          <a:p>
            <a:pPr algn="l">
              <a:lnSpc>
                <a:spcPts val="3887"/>
              </a:lnSpc>
              <a:spcBef>
                <a:spcPct val="0"/>
              </a:spcBef>
            </a:pPr>
            <a:r>
              <a:rPr lang="en-US" sz="2025">
                <a:solidFill>
                  <a:srgbClr val="FFFFFF"/>
                </a:solidFill>
                <a:latin typeface="Inter"/>
                <a:ea typeface="Inter"/>
                <a:cs typeface="Inter"/>
                <a:sym typeface="Inter"/>
              </a:rPr>
              <a:t>parser → validator → ranker → rewriter → final_ad_copy 后处理链路。</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25818"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6" id="6"/>
          <p:cNvSpPr/>
          <p:nvPr/>
        </p:nvSpPr>
        <p:spPr>
          <a:xfrm flipH="false" flipV="false" rot="0">
            <a:off x="368059" y="194863"/>
            <a:ext cx="17543055" cy="10092137"/>
          </a:xfrm>
          <a:custGeom>
            <a:avLst/>
            <a:gdLst/>
            <a:ahLst/>
            <a:cxnLst/>
            <a:rect r="r" b="b" t="t" l="l"/>
            <a:pathLst>
              <a:path h="10092137" w="17543055">
                <a:moveTo>
                  <a:pt x="0" y="0"/>
                </a:moveTo>
                <a:lnTo>
                  <a:pt x="17543054" y="0"/>
                </a:lnTo>
                <a:lnTo>
                  <a:pt x="17543054" y="10092137"/>
                </a:lnTo>
                <a:lnTo>
                  <a:pt x="0" y="10092137"/>
                </a:lnTo>
                <a:lnTo>
                  <a:pt x="0" y="0"/>
                </a:lnTo>
                <a:close/>
              </a:path>
            </a:pathLst>
          </a:custGeom>
          <a:blipFill>
            <a:blip r:embed="rId4"/>
            <a:stretch>
              <a:fillRect l="0" t="0" r="-2271"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1857375"/>
            <a:ext cx="7929562" cy="7572375"/>
            <a:chOff x="0" y="0"/>
            <a:chExt cx="10572750" cy="10096500"/>
          </a:xfrm>
        </p:grpSpPr>
        <p:sp>
          <p:nvSpPr>
            <p:cNvPr name="Freeform 5" id="5" descr="image.png"/>
            <p:cNvSpPr/>
            <p:nvPr/>
          </p:nvSpPr>
          <p:spPr>
            <a:xfrm flipH="false" flipV="false" rot="0">
              <a:off x="0" y="0"/>
              <a:ext cx="10572750" cy="10096500"/>
            </a:xfrm>
            <a:custGeom>
              <a:avLst/>
              <a:gdLst/>
              <a:ahLst/>
              <a:cxnLst/>
              <a:rect r="r" b="b" t="t" l="l"/>
              <a:pathLst>
                <a:path h="10096500" w="10572750">
                  <a:moveTo>
                    <a:pt x="0" y="0"/>
                  </a:moveTo>
                  <a:lnTo>
                    <a:pt x="10572750" y="0"/>
                  </a:lnTo>
                  <a:lnTo>
                    <a:pt x="10572750" y="10096500"/>
                  </a:lnTo>
                  <a:lnTo>
                    <a:pt x="0" y="10096500"/>
                  </a:lnTo>
                  <a:lnTo>
                    <a:pt x="0" y="0"/>
                  </a:lnTo>
                  <a:close/>
                </a:path>
              </a:pathLst>
            </a:custGeom>
            <a:blipFill>
              <a:blip r:embed="rId4"/>
              <a:stretch>
                <a:fillRect l="0" t="0" r="0" b="0"/>
              </a:stretch>
            </a:blipFill>
          </p:spPr>
        </p:sp>
      </p:grpSp>
      <p:grpSp>
        <p:nvGrpSpPr>
          <p:cNvPr name="Group 6" id="6"/>
          <p:cNvGrpSpPr/>
          <p:nvPr/>
        </p:nvGrpSpPr>
        <p:grpSpPr>
          <a:xfrm rot="0">
            <a:off x="9501188" y="1857375"/>
            <a:ext cx="7929562" cy="7572375"/>
            <a:chOff x="0" y="0"/>
            <a:chExt cx="10572750" cy="10096500"/>
          </a:xfrm>
        </p:grpSpPr>
        <p:sp>
          <p:nvSpPr>
            <p:cNvPr name="Freeform 7" id="7" descr="image.png"/>
            <p:cNvSpPr/>
            <p:nvPr/>
          </p:nvSpPr>
          <p:spPr>
            <a:xfrm flipH="false" flipV="false" rot="0">
              <a:off x="0" y="0"/>
              <a:ext cx="10572750" cy="10096500"/>
            </a:xfrm>
            <a:custGeom>
              <a:avLst/>
              <a:gdLst/>
              <a:ahLst/>
              <a:cxnLst/>
              <a:rect r="r" b="b" t="t" l="l"/>
              <a:pathLst>
                <a:path h="10096500" w="10572750">
                  <a:moveTo>
                    <a:pt x="0" y="0"/>
                  </a:moveTo>
                  <a:lnTo>
                    <a:pt x="10572750" y="0"/>
                  </a:lnTo>
                  <a:lnTo>
                    <a:pt x="10572750" y="10096500"/>
                  </a:lnTo>
                  <a:lnTo>
                    <a:pt x="0" y="10096500"/>
                  </a:lnTo>
                  <a:lnTo>
                    <a:pt x="0" y="0"/>
                  </a:lnTo>
                  <a:close/>
                </a:path>
              </a:pathLst>
            </a:custGeom>
            <a:blipFill>
              <a:blip r:embed="rId5"/>
              <a:stretch>
                <a:fillRect l="0" t="0" r="0" b="0"/>
              </a:stretch>
            </a:blipFill>
          </p:spPr>
        </p:sp>
      </p:grpSp>
      <p:sp>
        <p:nvSpPr>
          <p:cNvPr name="TextBox 8" id="8"/>
          <p:cNvSpPr txBox="true"/>
          <p:nvPr/>
        </p:nvSpPr>
        <p:spPr>
          <a:xfrm rot="0">
            <a:off x="1443038" y="2424112"/>
            <a:ext cx="7095887" cy="533400"/>
          </a:xfrm>
          <a:prstGeom prst="rect">
            <a:avLst/>
          </a:prstGeom>
        </p:spPr>
        <p:txBody>
          <a:bodyPr anchor="t" rtlCol="false" tIns="0" lIns="0" bIns="0" rIns="0">
            <a:spAutoFit/>
          </a:bodyPr>
          <a:lstStyle/>
          <a:p>
            <a:pPr algn="l">
              <a:lnSpc>
                <a:spcPts val="3510"/>
              </a:lnSpc>
            </a:pPr>
            <a:r>
              <a:rPr lang="en-US" sz="2925">
                <a:solidFill>
                  <a:srgbClr val="06B6D4"/>
                </a:solidFill>
                <a:latin typeface="Arimo"/>
                <a:ea typeface="Arimo"/>
                <a:cs typeface="Arimo"/>
                <a:sym typeface="Arimo"/>
              </a:rPr>
              <a:t>1. 搜索基座层 (KuaiSearch)</a:t>
            </a:r>
          </a:p>
        </p:txBody>
      </p:sp>
      <p:grpSp>
        <p:nvGrpSpPr>
          <p:cNvPr name="Group 9" id="9"/>
          <p:cNvGrpSpPr/>
          <p:nvPr/>
        </p:nvGrpSpPr>
        <p:grpSpPr>
          <a:xfrm rot="0">
            <a:off x="1443038" y="3086100"/>
            <a:ext cx="6757988" cy="14288"/>
            <a:chOff x="0" y="0"/>
            <a:chExt cx="9010650" cy="19050"/>
          </a:xfrm>
        </p:grpSpPr>
        <p:sp>
          <p:nvSpPr>
            <p:cNvPr name="Freeform 10" id="10"/>
            <p:cNvSpPr/>
            <p:nvPr/>
          </p:nvSpPr>
          <p:spPr>
            <a:xfrm flipH="false" flipV="false" rot="0">
              <a:off x="0" y="0"/>
              <a:ext cx="9010650" cy="19050"/>
            </a:xfrm>
            <a:custGeom>
              <a:avLst/>
              <a:gdLst/>
              <a:ahLst/>
              <a:cxnLst/>
              <a:rect r="r" b="b" t="t" l="l"/>
              <a:pathLst>
                <a:path h="19050" w="9010650">
                  <a:moveTo>
                    <a:pt x="0" y="0"/>
                  </a:moveTo>
                  <a:lnTo>
                    <a:pt x="9010650" y="0"/>
                  </a:lnTo>
                  <a:lnTo>
                    <a:pt x="9010650" y="19050"/>
                  </a:lnTo>
                  <a:lnTo>
                    <a:pt x="0" y="19050"/>
                  </a:lnTo>
                  <a:close/>
                </a:path>
              </a:pathLst>
            </a:custGeom>
            <a:solidFill>
              <a:srgbClr val="334155"/>
            </a:solidFill>
          </p:spPr>
        </p:sp>
      </p:grpSp>
      <p:sp>
        <p:nvSpPr>
          <p:cNvPr name="TextBox 11" id="11"/>
          <p:cNvSpPr txBox="true"/>
          <p:nvPr/>
        </p:nvSpPr>
        <p:spPr>
          <a:xfrm rot="0">
            <a:off x="1443038" y="3243263"/>
            <a:ext cx="6757988" cy="965749"/>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保持原仓库底层不动，为广告系统提供底层信息检索能力，保证生成内容的客观约束基础：</a:t>
            </a:r>
          </a:p>
        </p:txBody>
      </p:sp>
      <p:sp>
        <p:nvSpPr>
          <p:cNvPr name="TextBox 12" id="12"/>
          <p:cNvSpPr txBox="true"/>
          <p:nvPr/>
        </p:nvSpPr>
        <p:spPr>
          <a:xfrm rot="0">
            <a:off x="10086975" y="2424112"/>
            <a:ext cx="7095887" cy="533400"/>
          </a:xfrm>
          <a:prstGeom prst="rect">
            <a:avLst/>
          </a:prstGeom>
        </p:spPr>
        <p:txBody>
          <a:bodyPr anchor="t" rtlCol="false" tIns="0" lIns="0" bIns="0" rIns="0">
            <a:spAutoFit/>
          </a:bodyPr>
          <a:lstStyle/>
          <a:p>
            <a:pPr algn="l">
              <a:lnSpc>
                <a:spcPts val="3510"/>
              </a:lnSpc>
            </a:pPr>
            <a:r>
              <a:rPr lang="en-US" sz="2925">
                <a:solidFill>
                  <a:srgbClr val="06B6D4"/>
                </a:solidFill>
                <a:latin typeface="Arimo"/>
                <a:ea typeface="Arimo"/>
                <a:cs typeface="Arimo"/>
                <a:sym typeface="Arimo"/>
              </a:rPr>
              <a:t>2. 创意生成层 (ad_generation)</a:t>
            </a:r>
          </a:p>
        </p:txBody>
      </p:sp>
      <p:grpSp>
        <p:nvGrpSpPr>
          <p:cNvPr name="Group 13" id="13"/>
          <p:cNvGrpSpPr/>
          <p:nvPr/>
        </p:nvGrpSpPr>
        <p:grpSpPr>
          <a:xfrm rot="0">
            <a:off x="10086975" y="3086100"/>
            <a:ext cx="6757988" cy="14288"/>
            <a:chOff x="0" y="0"/>
            <a:chExt cx="9010650" cy="19050"/>
          </a:xfrm>
        </p:grpSpPr>
        <p:sp>
          <p:nvSpPr>
            <p:cNvPr name="Freeform 14" id="14"/>
            <p:cNvSpPr/>
            <p:nvPr/>
          </p:nvSpPr>
          <p:spPr>
            <a:xfrm flipH="false" flipV="false" rot="0">
              <a:off x="0" y="0"/>
              <a:ext cx="9010650" cy="19050"/>
            </a:xfrm>
            <a:custGeom>
              <a:avLst/>
              <a:gdLst/>
              <a:ahLst/>
              <a:cxnLst/>
              <a:rect r="r" b="b" t="t" l="l"/>
              <a:pathLst>
                <a:path h="19050" w="9010650">
                  <a:moveTo>
                    <a:pt x="0" y="0"/>
                  </a:moveTo>
                  <a:lnTo>
                    <a:pt x="9010650" y="0"/>
                  </a:lnTo>
                  <a:lnTo>
                    <a:pt x="9010650" y="19050"/>
                  </a:lnTo>
                  <a:lnTo>
                    <a:pt x="0" y="19050"/>
                  </a:lnTo>
                  <a:close/>
                </a:path>
              </a:pathLst>
            </a:custGeom>
            <a:solidFill>
              <a:srgbClr val="334155"/>
            </a:solidFill>
          </p:spPr>
        </p:sp>
      </p:grpSp>
      <p:sp>
        <p:nvSpPr>
          <p:cNvPr name="TextBox 15" id="15"/>
          <p:cNvSpPr txBox="true"/>
          <p:nvPr/>
        </p:nvSpPr>
        <p:spPr>
          <a:xfrm rot="0">
            <a:off x="10086975" y="3243263"/>
            <a:ext cx="6757988" cy="554307"/>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核心新增模块，处理搜索证据向自然语言的映射与组装：</a:t>
            </a:r>
          </a:p>
        </p:txBody>
      </p:sp>
      <p:sp>
        <p:nvSpPr>
          <p:cNvPr name="TextBox 16" id="16"/>
          <p:cNvSpPr txBox="true"/>
          <p:nvPr/>
        </p:nvSpPr>
        <p:spPr>
          <a:xfrm rot="0">
            <a:off x="1871662" y="4280449"/>
            <a:ext cx="6329362" cy="554307"/>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recall/:</a:t>
            </a:r>
            <a:r>
              <a:rPr lang="en-US" sz="2025">
                <a:solidFill>
                  <a:srgbClr val="94A3B8"/>
                </a:solidFill>
                <a:latin typeface="Inter"/>
                <a:ea typeface="Inter"/>
                <a:cs typeface="Inter"/>
                <a:sym typeface="Inter"/>
              </a:rPr>
              <a:t> 负责候选商品库的初步检索召回。</a:t>
            </a:r>
          </a:p>
        </p:txBody>
      </p:sp>
      <p:sp>
        <p:nvSpPr>
          <p:cNvPr name="TextBox 17" id="17"/>
          <p:cNvSpPr txBox="true"/>
          <p:nvPr/>
        </p:nvSpPr>
        <p:spPr>
          <a:xfrm rot="0">
            <a:off x="1871662" y="4949057"/>
            <a:ext cx="6329362" cy="554307"/>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ranking/:</a:t>
            </a:r>
            <a:r>
              <a:rPr lang="en-US" sz="2025">
                <a:solidFill>
                  <a:srgbClr val="94A3B8"/>
                </a:solidFill>
                <a:latin typeface="Inter"/>
                <a:ea typeface="Inter"/>
                <a:cs typeface="Inter"/>
                <a:sym typeface="Inter"/>
              </a:rPr>
              <a:t> 提供商品点击与购买倾向的打分建模。</a:t>
            </a:r>
          </a:p>
        </p:txBody>
      </p:sp>
      <p:sp>
        <p:nvSpPr>
          <p:cNvPr name="TextBox 18" id="18"/>
          <p:cNvSpPr txBox="true"/>
          <p:nvPr/>
        </p:nvSpPr>
        <p:spPr>
          <a:xfrm rot="0">
            <a:off x="1871662" y="5617664"/>
            <a:ext cx="6329362" cy="554307"/>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relevance/:</a:t>
            </a:r>
            <a:r>
              <a:rPr lang="en-US" sz="2025">
                <a:solidFill>
                  <a:srgbClr val="94A3B8"/>
                </a:solidFill>
                <a:latin typeface="Inter"/>
                <a:ea typeface="Inter"/>
                <a:cs typeface="Inter"/>
                <a:sym typeface="Inter"/>
              </a:rPr>
              <a:t> 提供 Query 与召回商品间的语义相关度。</a:t>
            </a:r>
          </a:p>
        </p:txBody>
      </p:sp>
      <p:sp>
        <p:nvSpPr>
          <p:cNvPr name="TextBox 19" id="19"/>
          <p:cNvSpPr txBox="true"/>
          <p:nvPr/>
        </p:nvSpPr>
        <p:spPr>
          <a:xfrm rot="0">
            <a:off x="1871662" y="6286281"/>
            <a:ext cx="6329362" cy="965749"/>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_lite 数据:</a:t>
            </a:r>
            <a:r>
              <a:rPr lang="en-US" sz="2025">
                <a:solidFill>
                  <a:srgbClr val="94A3B8"/>
                </a:solidFill>
                <a:latin typeface="Inter"/>
                <a:ea typeface="Inter"/>
                <a:cs typeface="Inter"/>
                <a:sym typeface="Inter"/>
              </a:rPr>
              <a:t> 提供商品(items)、用户(users)、点击(rank)核心基础数据。</a:t>
            </a:r>
          </a:p>
        </p:txBody>
      </p:sp>
      <p:sp>
        <p:nvSpPr>
          <p:cNvPr name="TextBox 20" id="20"/>
          <p:cNvSpPr txBox="true"/>
          <p:nvPr/>
        </p:nvSpPr>
        <p:spPr>
          <a:xfrm rot="0">
            <a:off x="10515600" y="3869007"/>
            <a:ext cx="6329362" cy="965749"/>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build_train_pairs:</a:t>
            </a:r>
            <a:r>
              <a:rPr lang="en-US" sz="2025">
                <a:solidFill>
                  <a:srgbClr val="94A3B8"/>
                </a:solidFill>
                <a:latin typeface="Inter"/>
                <a:ea typeface="Inter"/>
                <a:cs typeface="Inter"/>
                <a:sym typeface="Inter"/>
              </a:rPr>
              <a:t> 构建模型所需的指令微调数据集基础。</a:t>
            </a:r>
          </a:p>
        </p:txBody>
      </p:sp>
      <p:sp>
        <p:nvSpPr>
          <p:cNvPr name="TextBox 21" id="21"/>
          <p:cNvSpPr txBox="true"/>
          <p:nvPr/>
        </p:nvSpPr>
        <p:spPr>
          <a:xfrm rot="0">
            <a:off x="10515600" y="4949057"/>
            <a:ext cx="6329362" cy="965749"/>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v5_dynamic_creative:</a:t>
            </a:r>
            <a:r>
              <a:rPr lang="en-US" sz="2025">
                <a:solidFill>
                  <a:srgbClr val="94A3B8"/>
                </a:solidFill>
                <a:latin typeface="Inter"/>
                <a:ea typeface="Inter"/>
                <a:cs typeface="Inter"/>
                <a:sym typeface="Inter"/>
              </a:rPr>
              <a:t> 串联整个动态生成的主控制流。</a:t>
            </a:r>
          </a:p>
        </p:txBody>
      </p:sp>
      <p:sp>
        <p:nvSpPr>
          <p:cNvPr name="TextBox 22" id="22"/>
          <p:cNvSpPr txBox="true"/>
          <p:nvPr/>
        </p:nvSpPr>
        <p:spPr>
          <a:xfrm rot="0">
            <a:off x="10515600" y="6029106"/>
            <a:ext cx="6329362" cy="965749"/>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llm_generator:</a:t>
            </a:r>
            <a:r>
              <a:rPr lang="en-US" sz="2025">
                <a:solidFill>
                  <a:srgbClr val="94A3B8"/>
                </a:solidFill>
                <a:latin typeface="Inter"/>
                <a:ea typeface="Inter"/>
                <a:cs typeface="Inter"/>
                <a:sym typeface="Inter"/>
              </a:rPr>
              <a:t> 统一的模型接口，兼容 Local Mock/API/SFT。</a:t>
            </a:r>
          </a:p>
        </p:txBody>
      </p:sp>
      <p:sp>
        <p:nvSpPr>
          <p:cNvPr name="TextBox 23" id="23"/>
          <p:cNvSpPr txBox="true"/>
          <p:nvPr/>
        </p:nvSpPr>
        <p:spPr>
          <a:xfrm rot="0">
            <a:off x="10515600" y="7109146"/>
            <a:ext cx="6329362" cy="554307"/>
          </a:xfrm>
          <a:prstGeom prst="rect">
            <a:avLst/>
          </a:prstGeom>
        </p:spPr>
        <p:txBody>
          <a:bodyPr anchor="t" rtlCol="false" tIns="0" lIns="0" bIns="0" rIns="0">
            <a:spAutoFit/>
          </a:bodyPr>
          <a:lstStyle/>
          <a:p>
            <a:pPr algn="l">
              <a:lnSpc>
                <a:spcPts val="3887"/>
              </a:lnSpc>
            </a:pPr>
            <a:r>
              <a:rPr lang="en-US" b="true" sz="2025">
                <a:solidFill>
                  <a:srgbClr val="94A3B8"/>
                </a:solidFill>
                <a:latin typeface="Inter Bold"/>
                <a:ea typeface="Inter Bold"/>
                <a:cs typeface="Inter Bold"/>
                <a:sym typeface="Inter Bold"/>
              </a:rPr>
              <a:t>prompt_builder:</a:t>
            </a:r>
            <a:r>
              <a:rPr lang="en-US" sz="2025">
                <a:solidFill>
                  <a:srgbClr val="94A3B8"/>
                </a:solidFill>
                <a:latin typeface="Inter"/>
                <a:ea typeface="Inter"/>
                <a:cs typeface="Inter"/>
                <a:sym typeface="Inter"/>
              </a:rPr>
              <a:t> 核心提示词与系统上下文组装引擎。</a:t>
            </a:r>
          </a:p>
        </p:txBody>
      </p:sp>
      <p:sp>
        <p:nvSpPr>
          <p:cNvPr name="TextBox 24" id="24"/>
          <p:cNvSpPr txBox="true"/>
          <p:nvPr/>
        </p:nvSpPr>
        <p:spPr>
          <a:xfrm rot="0">
            <a:off x="1443038" y="4042324"/>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5" id="25"/>
          <p:cNvSpPr txBox="true"/>
          <p:nvPr/>
        </p:nvSpPr>
        <p:spPr>
          <a:xfrm rot="0">
            <a:off x="1443038" y="4710932"/>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6" id="26"/>
          <p:cNvSpPr txBox="true"/>
          <p:nvPr/>
        </p:nvSpPr>
        <p:spPr>
          <a:xfrm rot="0">
            <a:off x="1443038" y="5379539"/>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7" id="27"/>
          <p:cNvSpPr txBox="true"/>
          <p:nvPr/>
        </p:nvSpPr>
        <p:spPr>
          <a:xfrm rot="0">
            <a:off x="1443038" y="6048156"/>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8" id="28"/>
          <p:cNvSpPr txBox="true"/>
          <p:nvPr/>
        </p:nvSpPr>
        <p:spPr>
          <a:xfrm rot="0">
            <a:off x="10086975" y="3630882"/>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29" id="29"/>
          <p:cNvSpPr txBox="true"/>
          <p:nvPr/>
        </p:nvSpPr>
        <p:spPr>
          <a:xfrm rot="0">
            <a:off x="10086975" y="4710932"/>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30" id="30"/>
          <p:cNvSpPr txBox="true"/>
          <p:nvPr/>
        </p:nvSpPr>
        <p:spPr>
          <a:xfrm rot="0">
            <a:off x="10086975" y="5790981"/>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31" id="31"/>
          <p:cNvSpPr txBox="true"/>
          <p:nvPr/>
        </p:nvSpPr>
        <p:spPr>
          <a:xfrm rot="0">
            <a:off x="10086975" y="6871021"/>
            <a:ext cx="242888" cy="923925"/>
          </a:xfrm>
          <a:prstGeom prst="rect">
            <a:avLst/>
          </a:prstGeom>
        </p:spPr>
        <p:txBody>
          <a:bodyPr anchor="t" rtlCol="false" tIns="0" lIns="0" bIns="0" rIns="0">
            <a:spAutoFit/>
          </a:bodyPr>
          <a:lstStyle/>
          <a:p>
            <a:pPr algn="l">
              <a:lnSpc>
                <a:spcPts val="6480"/>
              </a:lnSpc>
            </a:pPr>
            <a:r>
              <a:rPr lang="en-US" sz="3375">
                <a:solidFill>
                  <a:srgbClr val="06B6D4"/>
                </a:solidFill>
                <a:latin typeface="Inter"/>
                <a:ea typeface="Inter"/>
                <a:cs typeface="Inter"/>
                <a:sym typeface="Inter"/>
              </a:rPr>
              <a:t>•</a:t>
            </a:r>
          </a:p>
        </p:txBody>
      </p:sp>
      <p:sp>
        <p:nvSpPr>
          <p:cNvPr name="TextBox 32" id="32"/>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系统级代码与架构拆解</a:t>
            </a:r>
          </a:p>
        </p:txBody>
      </p:sp>
      <p:grpSp>
        <p:nvGrpSpPr>
          <p:cNvPr name="Group 33" id="33"/>
          <p:cNvGrpSpPr/>
          <p:nvPr/>
        </p:nvGrpSpPr>
        <p:grpSpPr>
          <a:xfrm rot="0">
            <a:off x="857250" y="857250"/>
            <a:ext cx="85725" cy="571500"/>
            <a:chOff x="0" y="0"/>
            <a:chExt cx="114300" cy="762000"/>
          </a:xfrm>
        </p:grpSpPr>
        <p:sp>
          <p:nvSpPr>
            <p:cNvPr name="Freeform 34" id="34"/>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901925"/>
            <a:ext cx="5238826" cy="5483276"/>
            <a:chOff x="0" y="0"/>
            <a:chExt cx="6985102" cy="7311034"/>
          </a:xfrm>
        </p:grpSpPr>
        <p:sp>
          <p:nvSpPr>
            <p:cNvPr name="Freeform 5" id="5" descr="image.png"/>
            <p:cNvSpPr/>
            <p:nvPr/>
          </p:nvSpPr>
          <p:spPr>
            <a:xfrm flipH="false" flipV="false" rot="0">
              <a:off x="0" y="0"/>
              <a:ext cx="6985127" cy="7311009"/>
            </a:xfrm>
            <a:custGeom>
              <a:avLst/>
              <a:gdLst/>
              <a:ahLst/>
              <a:cxnLst/>
              <a:rect r="r" b="b" t="t" l="l"/>
              <a:pathLst>
                <a:path h="7311009" w="6985127">
                  <a:moveTo>
                    <a:pt x="0" y="0"/>
                  </a:moveTo>
                  <a:lnTo>
                    <a:pt x="6985127" y="0"/>
                  </a:lnTo>
                  <a:lnTo>
                    <a:pt x="6985127" y="7311009"/>
                  </a:lnTo>
                  <a:lnTo>
                    <a:pt x="0" y="7311009"/>
                  </a:lnTo>
                  <a:lnTo>
                    <a:pt x="0" y="0"/>
                  </a:lnTo>
                  <a:close/>
                </a:path>
              </a:pathLst>
            </a:custGeom>
            <a:blipFill>
              <a:blip r:embed="rId4"/>
              <a:stretch>
                <a:fillRect l="0" t="0" r="-31" b="0"/>
              </a:stretch>
            </a:blipFill>
          </p:spPr>
        </p:sp>
      </p:grpSp>
      <p:grpSp>
        <p:nvGrpSpPr>
          <p:cNvPr name="Group 6" id="6"/>
          <p:cNvGrpSpPr/>
          <p:nvPr/>
        </p:nvGrpSpPr>
        <p:grpSpPr>
          <a:xfrm rot="0">
            <a:off x="6524701" y="2901925"/>
            <a:ext cx="5238826" cy="5483276"/>
            <a:chOff x="0" y="0"/>
            <a:chExt cx="6985102" cy="7311034"/>
          </a:xfrm>
        </p:grpSpPr>
        <p:sp>
          <p:nvSpPr>
            <p:cNvPr name="Freeform 7" id="7" descr="image.png"/>
            <p:cNvSpPr/>
            <p:nvPr/>
          </p:nvSpPr>
          <p:spPr>
            <a:xfrm flipH="false" flipV="false" rot="0">
              <a:off x="0" y="0"/>
              <a:ext cx="6985127" cy="7311009"/>
            </a:xfrm>
            <a:custGeom>
              <a:avLst/>
              <a:gdLst/>
              <a:ahLst/>
              <a:cxnLst/>
              <a:rect r="r" b="b" t="t" l="l"/>
              <a:pathLst>
                <a:path h="7311009" w="6985127">
                  <a:moveTo>
                    <a:pt x="0" y="0"/>
                  </a:moveTo>
                  <a:lnTo>
                    <a:pt x="6985127" y="0"/>
                  </a:lnTo>
                  <a:lnTo>
                    <a:pt x="6985127" y="7311009"/>
                  </a:lnTo>
                  <a:lnTo>
                    <a:pt x="0" y="7311009"/>
                  </a:lnTo>
                  <a:lnTo>
                    <a:pt x="0" y="0"/>
                  </a:lnTo>
                  <a:close/>
                </a:path>
              </a:pathLst>
            </a:custGeom>
            <a:blipFill>
              <a:blip r:embed="rId5"/>
              <a:stretch>
                <a:fillRect l="0" t="0" r="-304" b="0"/>
              </a:stretch>
            </a:blipFill>
          </p:spPr>
        </p:sp>
      </p:grpSp>
      <p:grpSp>
        <p:nvGrpSpPr>
          <p:cNvPr name="Group 8" id="8"/>
          <p:cNvGrpSpPr/>
          <p:nvPr/>
        </p:nvGrpSpPr>
        <p:grpSpPr>
          <a:xfrm rot="0">
            <a:off x="12192152" y="2901925"/>
            <a:ext cx="5238826" cy="5483276"/>
            <a:chOff x="0" y="0"/>
            <a:chExt cx="6985102" cy="7311034"/>
          </a:xfrm>
        </p:grpSpPr>
        <p:sp>
          <p:nvSpPr>
            <p:cNvPr name="Freeform 9" id="9" descr="image.png"/>
            <p:cNvSpPr/>
            <p:nvPr/>
          </p:nvSpPr>
          <p:spPr>
            <a:xfrm flipH="false" flipV="false" rot="0">
              <a:off x="0" y="0"/>
              <a:ext cx="6985127" cy="7311009"/>
            </a:xfrm>
            <a:custGeom>
              <a:avLst/>
              <a:gdLst/>
              <a:ahLst/>
              <a:cxnLst/>
              <a:rect r="r" b="b" t="t" l="l"/>
              <a:pathLst>
                <a:path h="7311009" w="6985127">
                  <a:moveTo>
                    <a:pt x="0" y="0"/>
                  </a:moveTo>
                  <a:lnTo>
                    <a:pt x="6985127" y="0"/>
                  </a:lnTo>
                  <a:lnTo>
                    <a:pt x="6985127" y="7311009"/>
                  </a:lnTo>
                  <a:lnTo>
                    <a:pt x="0" y="7311009"/>
                  </a:lnTo>
                  <a:lnTo>
                    <a:pt x="0" y="0"/>
                  </a:lnTo>
                  <a:close/>
                </a:path>
              </a:pathLst>
            </a:custGeom>
            <a:blipFill>
              <a:blip r:embed="rId6"/>
              <a:stretch>
                <a:fillRect l="0" t="0" r="-304" b="0"/>
              </a:stretch>
            </a:blipFill>
          </p:spPr>
        </p:sp>
      </p:grpSp>
      <p:grpSp>
        <p:nvGrpSpPr>
          <p:cNvPr name="Group 10" id="10"/>
          <p:cNvGrpSpPr/>
          <p:nvPr/>
        </p:nvGrpSpPr>
        <p:grpSpPr>
          <a:xfrm rot="0">
            <a:off x="1300162" y="3344837"/>
            <a:ext cx="914400" cy="914400"/>
            <a:chOff x="0" y="0"/>
            <a:chExt cx="1219200" cy="1219200"/>
          </a:xfrm>
        </p:grpSpPr>
        <p:sp>
          <p:nvSpPr>
            <p:cNvPr name="Freeform 11" id="11"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7"/>
              <a:stretch>
                <a:fillRect l="0" t="0" r="0" b="-1562"/>
              </a:stretch>
            </a:blipFill>
          </p:spPr>
        </p:sp>
      </p:grpSp>
      <p:sp>
        <p:nvSpPr>
          <p:cNvPr name="TextBox 12" id="12"/>
          <p:cNvSpPr txBox="true"/>
          <p:nvPr/>
        </p:nvSpPr>
        <p:spPr>
          <a:xfrm rot="0">
            <a:off x="1300162" y="4525937"/>
            <a:ext cx="3510439"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事实抽取与意图增强</a:t>
            </a:r>
          </a:p>
        </p:txBody>
      </p:sp>
      <p:sp>
        <p:nvSpPr>
          <p:cNvPr name="TextBox 13" id="13"/>
          <p:cNvSpPr txBox="true"/>
          <p:nvPr/>
        </p:nvSpPr>
        <p:spPr>
          <a:xfrm rot="0">
            <a:off x="1300162" y="5116487"/>
            <a:ext cx="4353001" cy="2200056"/>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执行 Query 标准化，并从中提取品类、场景等购买意图。结合搜索模块返回的 Ranking 和 Relevance 分数，筛选出最具说服力的商品组作为文案生成的硬约束证据。</a:t>
            </a:r>
          </a:p>
        </p:txBody>
      </p:sp>
      <p:grpSp>
        <p:nvGrpSpPr>
          <p:cNvPr name="Group 14" id="14"/>
          <p:cNvGrpSpPr/>
          <p:nvPr/>
        </p:nvGrpSpPr>
        <p:grpSpPr>
          <a:xfrm rot="0">
            <a:off x="6967614" y="3344837"/>
            <a:ext cx="914400" cy="914400"/>
            <a:chOff x="0" y="0"/>
            <a:chExt cx="1219200" cy="1219200"/>
          </a:xfrm>
        </p:grpSpPr>
        <p:sp>
          <p:nvSpPr>
            <p:cNvPr name="Freeform 15" id="15"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8"/>
              <a:stretch>
                <a:fillRect l="0" t="0" r="0" b="0"/>
              </a:stretch>
            </a:blipFill>
          </p:spPr>
        </p:sp>
      </p:grpSp>
      <p:sp>
        <p:nvSpPr>
          <p:cNvPr name="TextBox 16" id="16"/>
          <p:cNvSpPr txBox="true"/>
          <p:nvPr/>
        </p:nvSpPr>
        <p:spPr>
          <a:xfrm rot="0">
            <a:off x="6967614" y="4525937"/>
            <a:ext cx="3120390"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上下文与模型推理</a:t>
            </a:r>
          </a:p>
        </p:txBody>
      </p:sp>
      <p:sp>
        <p:nvSpPr>
          <p:cNvPr name="TextBox 17" id="17"/>
          <p:cNvSpPr txBox="true"/>
          <p:nvPr/>
        </p:nvSpPr>
        <p:spPr>
          <a:xfrm rot="0">
            <a:off x="6967614" y="5116487"/>
            <a:ext cx="4353001" cy="2611488"/>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将筛选后的事实证据、用户轻量级画像、风格检索样例（样板参考），通过 Prompt Builder 进行系统级组装，提交给深层大语言模型（如 DeepSeek API 或 本地 SFT 模型）进行内容推理。</a:t>
            </a:r>
          </a:p>
        </p:txBody>
      </p:sp>
      <p:grpSp>
        <p:nvGrpSpPr>
          <p:cNvPr name="Group 18" id="18"/>
          <p:cNvGrpSpPr/>
          <p:nvPr/>
        </p:nvGrpSpPr>
        <p:grpSpPr>
          <a:xfrm rot="0">
            <a:off x="12635065" y="3344837"/>
            <a:ext cx="914400" cy="914400"/>
            <a:chOff x="0" y="0"/>
            <a:chExt cx="1219200" cy="1219200"/>
          </a:xfrm>
        </p:grpSpPr>
        <p:sp>
          <p:nvSpPr>
            <p:cNvPr name="Freeform 19" id="19"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9"/>
              <a:stretch>
                <a:fillRect l="0" t="0" r="0" b="0"/>
              </a:stretch>
            </a:blipFill>
          </p:spPr>
        </p:sp>
      </p:grpSp>
      <p:sp>
        <p:nvSpPr>
          <p:cNvPr name="TextBox 20" id="20"/>
          <p:cNvSpPr txBox="true"/>
          <p:nvPr/>
        </p:nvSpPr>
        <p:spPr>
          <a:xfrm rot="0">
            <a:off x="12635065" y="4525937"/>
            <a:ext cx="3510439"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解析校验与后置排序</a:t>
            </a:r>
          </a:p>
        </p:txBody>
      </p:sp>
      <p:sp>
        <p:nvSpPr>
          <p:cNvPr name="TextBox 21" id="21"/>
          <p:cNvSpPr txBox="true"/>
          <p:nvPr/>
        </p:nvSpPr>
        <p:spPr>
          <a:xfrm rot="0">
            <a:off x="12635065" y="5116487"/>
            <a:ext cx="4353001" cy="2611488"/>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拦截解析 LLM 响应，进行规则强校验（拦截虚构价格、不当夸大等）。最后调用 Copy Ranker 依据自然度、简洁度及有效性筛选最佳文案对外输出，若异常则触发降级 Fallback 机制。</a:t>
            </a:r>
          </a:p>
        </p:txBody>
      </p:sp>
      <p:grpSp>
        <p:nvGrpSpPr>
          <p:cNvPr name="Group 22" id="22"/>
          <p:cNvGrpSpPr/>
          <p:nvPr/>
        </p:nvGrpSpPr>
        <p:grpSpPr>
          <a:xfrm rot="0">
            <a:off x="1528762" y="3573437"/>
            <a:ext cx="457200" cy="457200"/>
            <a:chOff x="0" y="0"/>
            <a:chExt cx="609600" cy="609600"/>
          </a:xfrm>
        </p:grpSpPr>
        <p:sp>
          <p:nvSpPr>
            <p:cNvPr name="Freeform 23" id="23"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0" r="0" b="-3125"/>
              </a:stretch>
            </a:blipFill>
          </p:spPr>
        </p:sp>
      </p:grpSp>
      <p:grpSp>
        <p:nvGrpSpPr>
          <p:cNvPr name="Group 24" id="24"/>
          <p:cNvGrpSpPr/>
          <p:nvPr/>
        </p:nvGrpSpPr>
        <p:grpSpPr>
          <a:xfrm rot="0">
            <a:off x="7196214" y="3573437"/>
            <a:ext cx="457200" cy="457200"/>
            <a:chOff x="0" y="0"/>
            <a:chExt cx="609600" cy="609600"/>
          </a:xfrm>
        </p:grpSpPr>
        <p:sp>
          <p:nvSpPr>
            <p:cNvPr name="Freeform 25" id="25"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1"/>
              <a:stretch>
                <a:fillRect l="0" t="0" r="0" b="0"/>
              </a:stretch>
            </a:blipFill>
          </p:spPr>
        </p:sp>
      </p:grpSp>
      <p:grpSp>
        <p:nvGrpSpPr>
          <p:cNvPr name="Group 26" id="26"/>
          <p:cNvGrpSpPr/>
          <p:nvPr/>
        </p:nvGrpSpPr>
        <p:grpSpPr>
          <a:xfrm rot="0">
            <a:off x="12863665" y="3573437"/>
            <a:ext cx="457200" cy="457200"/>
            <a:chOff x="0" y="0"/>
            <a:chExt cx="609600" cy="609600"/>
          </a:xfrm>
        </p:grpSpPr>
        <p:sp>
          <p:nvSpPr>
            <p:cNvPr name="Freeform 27" id="27"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2"/>
              <a:stretch>
                <a:fillRect l="0" t="0" r="0" b="0"/>
              </a:stretch>
            </a:blipFill>
          </p:spPr>
        </p:sp>
      </p:grpSp>
      <p:sp>
        <p:nvSpPr>
          <p:cNvPr name="TextBox 28" id="28"/>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V5 动态创意生成核心链路</a:t>
            </a:r>
          </a:p>
        </p:txBody>
      </p:sp>
      <p:grpSp>
        <p:nvGrpSpPr>
          <p:cNvPr name="Group 29" id="29"/>
          <p:cNvGrpSpPr/>
          <p:nvPr/>
        </p:nvGrpSpPr>
        <p:grpSpPr>
          <a:xfrm rot="0">
            <a:off x="857250" y="857250"/>
            <a:ext cx="85725" cy="571500"/>
            <a:chOff x="0" y="0"/>
            <a:chExt cx="114300" cy="762000"/>
          </a:xfrm>
        </p:grpSpPr>
        <p:sp>
          <p:nvSpPr>
            <p:cNvPr name="Freeform 30" id="30"/>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833164"/>
            <a:ext cx="5238826" cy="5620569"/>
            <a:chOff x="0" y="0"/>
            <a:chExt cx="6985102" cy="7494092"/>
          </a:xfrm>
        </p:grpSpPr>
        <p:sp>
          <p:nvSpPr>
            <p:cNvPr name="Freeform 5" id="5" descr="image.png"/>
            <p:cNvSpPr/>
            <p:nvPr/>
          </p:nvSpPr>
          <p:spPr>
            <a:xfrm flipH="false" flipV="false" rot="0">
              <a:off x="0" y="0"/>
              <a:ext cx="6985127" cy="7494143"/>
            </a:xfrm>
            <a:custGeom>
              <a:avLst/>
              <a:gdLst/>
              <a:ahLst/>
              <a:cxnLst/>
              <a:rect r="r" b="b" t="t" l="l"/>
              <a:pathLst>
                <a:path h="7494143" w="6985127">
                  <a:moveTo>
                    <a:pt x="0" y="0"/>
                  </a:moveTo>
                  <a:lnTo>
                    <a:pt x="6985127" y="0"/>
                  </a:lnTo>
                  <a:lnTo>
                    <a:pt x="6985127" y="7494143"/>
                  </a:lnTo>
                  <a:lnTo>
                    <a:pt x="0" y="7494143"/>
                  </a:lnTo>
                  <a:lnTo>
                    <a:pt x="0" y="0"/>
                  </a:lnTo>
                  <a:close/>
                </a:path>
              </a:pathLst>
            </a:custGeom>
            <a:blipFill>
              <a:blip r:embed="rId4"/>
              <a:stretch>
                <a:fillRect l="0" t="0" r="0" b="-64"/>
              </a:stretch>
            </a:blipFill>
          </p:spPr>
        </p:sp>
      </p:grpSp>
      <p:grpSp>
        <p:nvGrpSpPr>
          <p:cNvPr name="Group 6" id="6"/>
          <p:cNvGrpSpPr/>
          <p:nvPr/>
        </p:nvGrpSpPr>
        <p:grpSpPr>
          <a:xfrm rot="0">
            <a:off x="6524701" y="2833164"/>
            <a:ext cx="5238826" cy="5620569"/>
            <a:chOff x="0" y="0"/>
            <a:chExt cx="6985102" cy="7494092"/>
          </a:xfrm>
        </p:grpSpPr>
        <p:sp>
          <p:nvSpPr>
            <p:cNvPr name="Freeform 7" id="7" descr="image.png"/>
            <p:cNvSpPr/>
            <p:nvPr/>
          </p:nvSpPr>
          <p:spPr>
            <a:xfrm flipH="false" flipV="false" rot="0">
              <a:off x="0" y="0"/>
              <a:ext cx="6985127" cy="7494143"/>
            </a:xfrm>
            <a:custGeom>
              <a:avLst/>
              <a:gdLst/>
              <a:ahLst/>
              <a:cxnLst/>
              <a:rect r="r" b="b" t="t" l="l"/>
              <a:pathLst>
                <a:path h="7494143" w="6985127">
                  <a:moveTo>
                    <a:pt x="0" y="0"/>
                  </a:moveTo>
                  <a:lnTo>
                    <a:pt x="6985127" y="0"/>
                  </a:lnTo>
                  <a:lnTo>
                    <a:pt x="6985127" y="7494143"/>
                  </a:lnTo>
                  <a:lnTo>
                    <a:pt x="0" y="7494143"/>
                  </a:lnTo>
                  <a:lnTo>
                    <a:pt x="0" y="0"/>
                  </a:lnTo>
                  <a:close/>
                </a:path>
              </a:pathLst>
            </a:custGeom>
            <a:blipFill>
              <a:blip r:embed="rId5"/>
              <a:stretch>
                <a:fillRect l="0" t="0" r="-206" b="0"/>
              </a:stretch>
            </a:blipFill>
          </p:spPr>
        </p:sp>
      </p:grpSp>
      <p:grpSp>
        <p:nvGrpSpPr>
          <p:cNvPr name="Group 8" id="8"/>
          <p:cNvGrpSpPr/>
          <p:nvPr/>
        </p:nvGrpSpPr>
        <p:grpSpPr>
          <a:xfrm rot="0">
            <a:off x="12192152" y="2833164"/>
            <a:ext cx="5238826" cy="5620569"/>
            <a:chOff x="0" y="0"/>
            <a:chExt cx="6985102" cy="7494092"/>
          </a:xfrm>
        </p:grpSpPr>
        <p:sp>
          <p:nvSpPr>
            <p:cNvPr name="Freeform 9" id="9" descr="image.png"/>
            <p:cNvSpPr/>
            <p:nvPr/>
          </p:nvSpPr>
          <p:spPr>
            <a:xfrm flipH="false" flipV="false" rot="0">
              <a:off x="0" y="0"/>
              <a:ext cx="6985127" cy="7494143"/>
            </a:xfrm>
            <a:custGeom>
              <a:avLst/>
              <a:gdLst/>
              <a:ahLst/>
              <a:cxnLst/>
              <a:rect r="r" b="b" t="t" l="l"/>
              <a:pathLst>
                <a:path h="7494143" w="6985127">
                  <a:moveTo>
                    <a:pt x="0" y="0"/>
                  </a:moveTo>
                  <a:lnTo>
                    <a:pt x="6985127" y="0"/>
                  </a:lnTo>
                  <a:lnTo>
                    <a:pt x="6985127" y="7494143"/>
                  </a:lnTo>
                  <a:lnTo>
                    <a:pt x="0" y="7494143"/>
                  </a:lnTo>
                  <a:lnTo>
                    <a:pt x="0" y="0"/>
                  </a:lnTo>
                  <a:close/>
                </a:path>
              </a:pathLst>
            </a:custGeom>
            <a:blipFill>
              <a:blip r:embed="rId6"/>
              <a:stretch>
                <a:fillRect l="0" t="0" r="-206" b="0"/>
              </a:stretch>
            </a:blipFill>
          </p:spPr>
        </p:sp>
      </p:grpSp>
      <p:sp>
        <p:nvSpPr>
          <p:cNvPr name="TextBox 10" id="10"/>
          <p:cNvSpPr txBox="true"/>
          <p:nvPr/>
        </p:nvSpPr>
        <p:spPr>
          <a:xfrm rot="0">
            <a:off x="1157288" y="5971651"/>
            <a:ext cx="4870685"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数据构建引擎</a:t>
            </a:r>
          </a:p>
        </p:txBody>
      </p:sp>
      <p:sp>
        <p:nvSpPr>
          <p:cNvPr name="TextBox 11" id="11"/>
          <p:cNvSpPr txBox="true"/>
          <p:nvPr/>
        </p:nvSpPr>
        <p:spPr>
          <a:xfrm rot="0">
            <a:off x="1157288" y="6562201"/>
            <a:ext cx="4638751" cy="1377182"/>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build_train_pairs.py：负责读取底层点击分布和相关性，过滤噪声商品并合成伪标签作为基准数据支撑。</a:t>
            </a:r>
          </a:p>
        </p:txBody>
      </p:sp>
      <p:sp>
        <p:nvSpPr>
          <p:cNvPr name="TextBox 12" id="12"/>
          <p:cNvSpPr txBox="true"/>
          <p:nvPr/>
        </p:nvSpPr>
        <p:spPr>
          <a:xfrm rot="0">
            <a:off x="6824739" y="5971651"/>
            <a:ext cx="4870685"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指令与上下文工程</a:t>
            </a:r>
          </a:p>
        </p:txBody>
      </p:sp>
      <p:sp>
        <p:nvSpPr>
          <p:cNvPr name="TextBox 13" id="13"/>
          <p:cNvSpPr txBox="true"/>
          <p:nvPr/>
        </p:nvSpPr>
        <p:spPr>
          <a:xfrm rot="0">
            <a:off x="6824739" y="6562201"/>
            <a:ext cx="4638751" cy="1377182"/>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prompt_builder.py：负责组织多源异构上下文，约束大模型必须服从给定的品牌或类目，不进行随意虚构。</a:t>
            </a:r>
          </a:p>
        </p:txBody>
      </p:sp>
      <p:sp>
        <p:nvSpPr>
          <p:cNvPr name="TextBox 14" id="14"/>
          <p:cNvSpPr txBox="true"/>
          <p:nvPr/>
        </p:nvSpPr>
        <p:spPr>
          <a:xfrm rot="0">
            <a:off x="12492190" y="5971651"/>
            <a:ext cx="4870685"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动态主干流</a:t>
            </a:r>
          </a:p>
        </p:txBody>
      </p:sp>
      <p:sp>
        <p:nvSpPr>
          <p:cNvPr name="TextBox 15" id="15"/>
          <p:cNvSpPr txBox="true"/>
          <p:nvPr/>
        </p:nvSpPr>
        <p:spPr>
          <a:xfrm rot="0">
            <a:off x="12492190" y="6562201"/>
            <a:ext cx="4638751" cy="1377182"/>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v5_dynamic_creative.py：完整的系统生命周期管理，串联意图、证据、用户、生成、后处理及输出控制流。</a:t>
            </a:r>
          </a:p>
        </p:txBody>
      </p:sp>
      <p:sp>
        <p:nvSpPr>
          <p:cNvPr name="TextBox 16" id="16"/>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广告生成工程模块详解</a:t>
            </a:r>
          </a:p>
        </p:txBody>
      </p:sp>
      <p:grpSp>
        <p:nvGrpSpPr>
          <p:cNvPr name="Group 17" id="17"/>
          <p:cNvGrpSpPr/>
          <p:nvPr/>
        </p:nvGrpSpPr>
        <p:grpSpPr>
          <a:xfrm rot="0">
            <a:off x="857250" y="857250"/>
            <a:ext cx="85725" cy="571500"/>
            <a:chOff x="0" y="0"/>
            <a:chExt cx="114300" cy="762000"/>
          </a:xfrm>
        </p:grpSpPr>
        <p:sp>
          <p:nvSpPr>
            <p:cNvPr name="Freeform 18" id="18"/>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0106" y="3009081"/>
            <a:ext cx="16587788" cy="5268963"/>
            <a:chOff x="0" y="0"/>
            <a:chExt cx="22117050" cy="7025284"/>
          </a:xfrm>
        </p:grpSpPr>
        <p:sp>
          <p:nvSpPr>
            <p:cNvPr name="Freeform 5" id="5"/>
            <p:cNvSpPr/>
            <p:nvPr/>
          </p:nvSpPr>
          <p:spPr>
            <a:xfrm flipH="false" flipV="false" rot="0">
              <a:off x="9525" y="9525"/>
              <a:ext cx="22098000" cy="7006209"/>
            </a:xfrm>
            <a:custGeom>
              <a:avLst/>
              <a:gdLst/>
              <a:ahLst/>
              <a:cxnLst/>
              <a:rect r="r" b="b" t="t" l="l"/>
              <a:pathLst>
                <a:path h="7006209" w="22098000">
                  <a:moveTo>
                    <a:pt x="0" y="0"/>
                  </a:moveTo>
                  <a:lnTo>
                    <a:pt x="22098000" y="0"/>
                  </a:lnTo>
                  <a:lnTo>
                    <a:pt x="22098000" y="7006209"/>
                  </a:lnTo>
                  <a:lnTo>
                    <a:pt x="0" y="7006209"/>
                  </a:lnTo>
                </a:path>
              </a:pathLst>
            </a:custGeom>
            <a:solidFill>
              <a:srgbClr val="1C2541"/>
            </a:solidFill>
          </p:spPr>
        </p:sp>
        <p:sp>
          <p:nvSpPr>
            <p:cNvPr name="Freeform 6" id="6"/>
            <p:cNvSpPr/>
            <p:nvPr/>
          </p:nvSpPr>
          <p:spPr>
            <a:xfrm flipH="false" flipV="false" rot="0">
              <a:off x="9525" y="0"/>
              <a:ext cx="22107525" cy="7025259"/>
            </a:xfrm>
            <a:custGeom>
              <a:avLst/>
              <a:gdLst/>
              <a:ahLst/>
              <a:cxnLst/>
              <a:rect r="r" b="b" t="t" l="l"/>
              <a:pathLst>
                <a:path h="7025259" w="22107525">
                  <a:moveTo>
                    <a:pt x="0" y="0"/>
                  </a:moveTo>
                  <a:lnTo>
                    <a:pt x="22098000" y="0"/>
                  </a:lnTo>
                  <a:cubicBezTo>
                    <a:pt x="22103207" y="0"/>
                    <a:pt x="22107525" y="4318"/>
                    <a:pt x="22107525" y="9525"/>
                  </a:cubicBezTo>
                  <a:lnTo>
                    <a:pt x="22107525" y="7015734"/>
                  </a:lnTo>
                  <a:cubicBezTo>
                    <a:pt x="22107525" y="7020940"/>
                    <a:pt x="22103207" y="7025259"/>
                    <a:pt x="22098000" y="7025259"/>
                  </a:cubicBezTo>
                  <a:lnTo>
                    <a:pt x="0" y="7025259"/>
                  </a:lnTo>
                  <a:lnTo>
                    <a:pt x="0" y="7006209"/>
                  </a:lnTo>
                  <a:lnTo>
                    <a:pt x="22098000" y="7006209"/>
                  </a:lnTo>
                  <a:lnTo>
                    <a:pt x="22098000" y="7015734"/>
                  </a:lnTo>
                  <a:lnTo>
                    <a:pt x="22088475" y="7015734"/>
                  </a:lnTo>
                  <a:lnTo>
                    <a:pt x="22088475" y="9525"/>
                  </a:lnTo>
                  <a:lnTo>
                    <a:pt x="22098000" y="9525"/>
                  </a:lnTo>
                  <a:lnTo>
                    <a:pt x="22098000" y="19050"/>
                  </a:lnTo>
                  <a:lnTo>
                    <a:pt x="0" y="19050"/>
                  </a:lnTo>
                  <a:close/>
                </a:path>
              </a:pathLst>
            </a:custGeom>
            <a:solidFill>
              <a:srgbClr val="4A7DBA"/>
            </a:solidFill>
          </p:spPr>
        </p:sp>
      </p:grpSp>
      <p:graphicFrame>
        <p:nvGraphicFramePr>
          <p:cNvPr name="Table 7" id="7"/>
          <p:cNvGraphicFramePr>
            <a:graphicFrameLocks noGrp="true"/>
          </p:cNvGraphicFramePr>
          <p:nvPr/>
        </p:nvGraphicFramePr>
        <p:xfrm>
          <a:off x="857250" y="3016224"/>
          <a:ext cx="16535400" cy="5181600"/>
        </p:xfrm>
        <a:graphic>
          <a:graphicData uri="http://schemas.openxmlformats.org/drawingml/2006/table">
            <a:tbl>
              <a:tblPr/>
              <a:tblGrid>
                <a:gridCol w="2542510"/>
                <a:gridCol w="3873050"/>
                <a:gridCol w="4997439"/>
                <a:gridCol w="5122401"/>
              </a:tblGrid>
              <a:tr h="1295400">
                <a:tc>
                  <a:txBody>
                    <a:bodyPr anchor="t" rtlCol="false"/>
                    <a:lstStyle/>
                    <a:p>
                      <a:pPr algn="l">
                        <a:lnSpc>
                          <a:spcPts val="2700"/>
                        </a:lnSpc>
                        <a:defRPr/>
                      </a:pPr>
                      <a:r>
                        <a:rPr lang="en-US" sz="2250">
                          <a:solidFill>
                            <a:srgbClr val="06B6D4"/>
                          </a:solidFill>
                          <a:latin typeface="Inter"/>
                          <a:ea typeface="Inter"/>
                          <a:cs typeface="Inter"/>
                          <a:sym typeface="Inter"/>
                        </a:rPr>
                        <a:t>方案版本</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02D4F"/>
                    </a:solidFill>
                  </a:tcPr>
                </a:tc>
                <a:tc>
                  <a:txBody>
                    <a:bodyPr anchor="t" rtlCol="false"/>
                    <a:lstStyle/>
                    <a:p>
                      <a:pPr algn="l">
                        <a:lnSpc>
                          <a:spcPts val="2700"/>
                        </a:lnSpc>
                        <a:defRPr/>
                      </a:pPr>
                      <a:r>
                        <a:rPr lang="en-US" sz="2250">
                          <a:solidFill>
                            <a:srgbClr val="06B6D4"/>
                          </a:solidFill>
                          <a:latin typeface="Inter"/>
                          <a:ea typeface="Inter"/>
                          <a:cs typeface="Inter"/>
                          <a:sym typeface="Inter"/>
                        </a:rPr>
                        <a:t>核心生成机制</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02D4F"/>
                    </a:solidFill>
                  </a:tcPr>
                </a:tc>
                <a:tc>
                  <a:txBody>
                    <a:bodyPr anchor="t" rtlCol="false"/>
                    <a:lstStyle/>
                    <a:p>
                      <a:pPr algn="l">
                        <a:lnSpc>
                          <a:spcPts val="2700"/>
                        </a:lnSpc>
                        <a:defRPr/>
                      </a:pPr>
                      <a:r>
                        <a:rPr lang="en-US" sz="2250">
                          <a:solidFill>
                            <a:srgbClr val="06B6D4"/>
                          </a:solidFill>
                          <a:latin typeface="Inter"/>
                          <a:ea typeface="Inter"/>
                          <a:cs typeface="Inter"/>
                          <a:sym typeface="Inter"/>
                        </a:rPr>
                        <a:t>工程优点</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02D4F"/>
                    </a:solidFill>
                  </a:tcPr>
                </a:tc>
                <a:tc>
                  <a:txBody>
                    <a:bodyPr anchor="t" rtlCol="false"/>
                    <a:lstStyle/>
                    <a:p>
                      <a:pPr algn="l">
                        <a:lnSpc>
                          <a:spcPts val="2700"/>
                        </a:lnSpc>
                        <a:defRPr/>
                      </a:pPr>
                      <a:r>
                        <a:rPr lang="en-US" sz="2250">
                          <a:solidFill>
                            <a:srgbClr val="06B6D4"/>
                          </a:solidFill>
                          <a:latin typeface="Inter"/>
                          <a:ea typeface="Inter"/>
                          <a:cs typeface="Inter"/>
                          <a:sym typeface="Inter"/>
                        </a:rPr>
                        <a:t>技术与产品局限</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02D4F"/>
                    </a:solidFill>
                  </a:tcPr>
                </a:tc>
              </a:tr>
              <a:tr h="1295400">
                <a:tc>
                  <a:txBody>
                    <a:bodyPr anchor="t" rtlCol="false"/>
                    <a:lstStyle/>
                    <a:p>
                      <a:pPr algn="l">
                        <a:lnSpc>
                          <a:spcPts val="2430"/>
                        </a:lnSpc>
                        <a:defRPr/>
                      </a:pPr>
                      <a:r>
                        <a:rPr lang="en-US" b="true" sz="2025">
                          <a:solidFill>
                            <a:srgbClr val="94A3B8"/>
                          </a:solidFill>
                          <a:latin typeface="Inter Bold"/>
                          <a:ea typeface="Inter Bold"/>
                          <a:cs typeface="Inter Bold"/>
                          <a:sym typeface="Inter Bold"/>
                        </a:rPr>
                        <a:t>Template (模板式)</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Top-1 商品信息提取拼接 + 预设静态模板</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输出极度稳定；零计算成本；极易实现和复现。</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像商品标题强制复述，表达极其僵硬，缺乏营销吸引力。</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1295400">
                <a:tc>
                  <a:txBody>
                    <a:bodyPr anchor="t" rtlCol="false"/>
                    <a:lstStyle/>
                    <a:p>
                      <a:pPr algn="l">
                        <a:lnSpc>
                          <a:spcPts val="2430"/>
                        </a:lnSpc>
                        <a:defRPr/>
                      </a:pPr>
                      <a:r>
                        <a:rPr lang="en-US" b="true" sz="2025">
                          <a:solidFill>
                            <a:srgbClr val="94A3B8"/>
                          </a:solidFill>
                          <a:latin typeface="Inter Bold"/>
                          <a:ea typeface="Inter Bold"/>
                          <a:cs typeface="Inter Bold"/>
                          <a:sym typeface="Inter Bold"/>
                        </a:rPr>
                        <a:t>Summary (摘要式)</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94A3B8"/>
                          </a:solidFill>
                          <a:latin typeface="Inter"/>
                          <a:ea typeface="Inter"/>
                          <a:cs typeface="Inter"/>
                          <a:sym typeface="Inter"/>
                        </a:rPr>
                        <a:t>Top-K 商品提炼共性 + 构建方向型短句</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94A3B8"/>
                          </a:solidFill>
                          <a:latin typeface="Inter"/>
                          <a:ea typeface="Inter"/>
                          <a:cs typeface="Inter"/>
                          <a:sym typeface="Inter"/>
                        </a:rPr>
                        <a:t>较之模板有一定的方向感和概括性。</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94A3B8"/>
                          </a:solidFill>
                          <a:latin typeface="Inter"/>
                          <a:ea typeface="Inter"/>
                          <a:cs typeface="Inter"/>
                          <a:sym typeface="Inter"/>
                        </a:rPr>
                        <a:t>提取证据稀疏时极易触发降级，创意边界依然极其有限。</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1295400">
                <a:tc>
                  <a:txBody>
                    <a:bodyPr anchor="t" rtlCol="false"/>
                    <a:lstStyle/>
                    <a:p>
                      <a:pPr algn="l">
                        <a:lnSpc>
                          <a:spcPts val="2430"/>
                        </a:lnSpc>
                        <a:defRPr/>
                      </a:pPr>
                      <a:r>
                        <a:rPr lang="en-US" b="true" sz="2025">
                          <a:solidFill>
                            <a:srgbClr val="94A3B8"/>
                          </a:solidFill>
                          <a:latin typeface="Inter Bold"/>
                          <a:ea typeface="Inter Bold"/>
                          <a:cs typeface="Inter Bold"/>
                          <a:sym typeface="Inter Bold"/>
                        </a:rPr>
                        <a:t>V5 (动态生成式)</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意图提取 + 证据强选 + 多模型打分过滤</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动态贴合查询，自然度极高；可接入各类主流生成 API。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94A3B8"/>
                          </a:solidFill>
                          <a:latin typeface="Inter"/>
                          <a:ea typeface="Inter"/>
                          <a:cs typeface="Inter"/>
                          <a:sym typeface="Inter"/>
                        </a:rPr>
                        <a:t>整体推理链路复杂，高度依赖解析器与后置重写的稳定性。</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bl>
          </a:graphicData>
        </a:graphic>
      </p:graphicFrame>
      <p:grpSp>
        <p:nvGrpSpPr>
          <p:cNvPr name="Group 8" id="8"/>
          <p:cNvGrpSpPr/>
          <p:nvPr/>
        </p:nvGrpSpPr>
        <p:grpSpPr>
          <a:xfrm rot="0">
            <a:off x="857250" y="4037781"/>
            <a:ext cx="2537374" cy="14288"/>
            <a:chOff x="0" y="0"/>
            <a:chExt cx="3383166" cy="19050"/>
          </a:xfrm>
        </p:grpSpPr>
        <p:sp>
          <p:nvSpPr>
            <p:cNvPr name="Freeform 9" id="9"/>
            <p:cNvSpPr/>
            <p:nvPr/>
          </p:nvSpPr>
          <p:spPr>
            <a:xfrm flipH="false" flipV="false" rot="0">
              <a:off x="0" y="0"/>
              <a:ext cx="3383153" cy="19050"/>
            </a:xfrm>
            <a:custGeom>
              <a:avLst/>
              <a:gdLst/>
              <a:ahLst/>
              <a:cxnLst/>
              <a:rect r="r" b="b" t="t" l="l"/>
              <a:pathLst>
                <a:path h="19050" w="3383153">
                  <a:moveTo>
                    <a:pt x="0" y="0"/>
                  </a:moveTo>
                  <a:lnTo>
                    <a:pt x="3383153" y="0"/>
                  </a:lnTo>
                  <a:lnTo>
                    <a:pt x="3383153" y="19050"/>
                  </a:lnTo>
                  <a:lnTo>
                    <a:pt x="0" y="19050"/>
                  </a:lnTo>
                  <a:close/>
                </a:path>
              </a:pathLst>
            </a:custGeom>
            <a:solidFill>
              <a:srgbClr val="334155"/>
            </a:solidFill>
          </p:spPr>
        </p:sp>
      </p:grpSp>
      <p:grpSp>
        <p:nvGrpSpPr>
          <p:cNvPr name="Group 10" id="10"/>
          <p:cNvGrpSpPr/>
          <p:nvPr/>
        </p:nvGrpSpPr>
        <p:grpSpPr>
          <a:xfrm rot="0">
            <a:off x="3394624" y="4037781"/>
            <a:ext cx="3880171" cy="14288"/>
            <a:chOff x="0" y="0"/>
            <a:chExt cx="5173561" cy="19050"/>
          </a:xfrm>
        </p:grpSpPr>
        <p:sp>
          <p:nvSpPr>
            <p:cNvPr name="Freeform 11" id="11"/>
            <p:cNvSpPr/>
            <p:nvPr/>
          </p:nvSpPr>
          <p:spPr>
            <a:xfrm flipH="false" flipV="false" rot="0">
              <a:off x="0" y="0"/>
              <a:ext cx="5173599" cy="19050"/>
            </a:xfrm>
            <a:custGeom>
              <a:avLst/>
              <a:gdLst/>
              <a:ahLst/>
              <a:cxnLst/>
              <a:rect r="r" b="b" t="t" l="l"/>
              <a:pathLst>
                <a:path h="19050" w="5173599">
                  <a:moveTo>
                    <a:pt x="0" y="0"/>
                  </a:moveTo>
                  <a:lnTo>
                    <a:pt x="5173599" y="0"/>
                  </a:lnTo>
                  <a:lnTo>
                    <a:pt x="5173599" y="19050"/>
                  </a:lnTo>
                  <a:lnTo>
                    <a:pt x="0" y="19050"/>
                  </a:lnTo>
                  <a:close/>
                </a:path>
              </a:pathLst>
            </a:custGeom>
            <a:solidFill>
              <a:srgbClr val="334155"/>
            </a:solidFill>
          </p:spPr>
        </p:sp>
      </p:grpSp>
      <p:grpSp>
        <p:nvGrpSpPr>
          <p:cNvPr name="Group 12" id="12"/>
          <p:cNvGrpSpPr/>
          <p:nvPr/>
        </p:nvGrpSpPr>
        <p:grpSpPr>
          <a:xfrm rot="0">
            <a:off x="7274795" y="4037781"/>
            <a:ext cx="5014912" cy="14288"/>
            <a:chOff x="0" y="0"/>
            <a:chExt cx="6686550" cy="19050"/>
          </a:xfrm>
        </p:grpSpPr>
        <p:sp>
          <p:nvSpPr>
            <p:cNvPr name="Freeform 13" id="13"/>
            <p:cNvSpPr/>
            <p:nvPr/>
          </p:nvSpPr>
          <p:spPr>
            <a:xfrm flipH="false" flipV="false" rot="0">
              <a:off x="0" y="0"/>
              <a:ext cx="6686550" cy="19050"/>
            </a:xfrm>
            <a:custGeom>
              <a:avLst/>
              <a:gdLst/>
              <a:ahLst/>
              <a:cxnLst/>
              <a:rect r="r" b="b" t="t" l="l"/>
              <a:pathLst>
                <a:path h="19050" w="6686550">
                  <a:moveTo>
                    <a:pt x="0" y="0"/>
                  </a:moveTo>
                  <a:lnTo>
                    <a:pt x="6686550" y="0"/>
                  </a:lnTo>
                  <a:lnTo>
                    <a:pt x="6686550" y="19050"/>
                  </a:lnTo>
                  <a:lnTo>
                    <a:pt x="0" y="19050"/>
                  </a:lnTo>
                  <a:close/>
                </a:path>
              </a:pathLst>
            </a:custGeom>
            <a:solidFill>
              <a:srgbClr val="334155"/>
            </a:solidFill>
          </p:spPr>
        </p:sp>
      </p:grpSp>
      <p:grpSp>
        <p:nvGrpSpPr>
          <p:cNvPr name="Group 14" id="14"/>
          <p:cNvGrpSpPr/>
          <p:nvPr/>
        </p:nvGrpSpPr>
        <p:grpSpPr>
          <a:xfrm rot="0">
            <a:off x="12289707" y="4037781"/>
            <a:ext cx="5141043" cy="14288"/>
            <a:chOff x="0" y="0"/>
            <a:chExt cx="6854723" cy="19050"/>
          </a:xfrm>
        </p:grpSpPr>
        <p:sp>
          <p:nvSpPr>
            <p:cNvPr name="Freeform 15" id="15"/>
            <p:cNvSpPr/>
            <p:nvPr/>
          </p:nvSpPr>
          <p:spPr>
            <a:xfrm flipH="false" flipV="false" rot="0">
              <a:off x="0" y="0"/>
              <a:ext cx="6854698" cy="19050"/>
            </a:xfrm>
            <a:custGeom>
              <a:avLst/>
              <a:gdLst/>
              <a:ahLst/>
              <a:cxnLst/>
              <a:rect r="r" b="b" t="t" l="l"/>
              <a:pathLst>
                <a:path h="19050" w="6854698">
                  <a:moveTo>
                    <a:pt x="0" y="0"/>
                  </a:moveTo>
                  <a:lnTo>
                    <a:pt x="6854698" y="0"/>
                  </a:lnTo>
                  <a:lnTo>
                    <a:pt x="6854698" y="19050"/>
                  </a:lnTo>
                  <a:lnTo>
                    <a:pt x="0" y="19050"/>
                  </a:lnTo>
                  <a:close/>
                </a:path>
              </a:pathLst>
            </a:custGeom>
            <a:solidFill>
              <a:srgbClr val="334155"/>
            </a:solidFill>
          </p:spPr>
        </p:sp>
      </p:grpSp>
      <p:grpSp>
        <p:nvGrpSpPr>
          <p:cNvPr name="Group 16" id="16"/>
          <p:cNvGrpSpPr/>
          <p:nvPr/>
        </p:nvGrpSpPr>
        <p:grpSpPr>
          <a:xfrm rot="0">
            <a:off x="857250" y="5446443"/>
            <a:ext cx="2537374" cy="14288"/>
            <a:chOff x="0" y="0"/>
            <a:chExt cx="3383166" cy="19050"/>
          </a:xfrm>
        </p:grpSpPr>
        <p:sp>
          <p:nvSpPr>
            <p:cNvPr name="Freeform 17" id="17"/>
            <p:cNvSpPr/>
            <p:nvPr/>
          </p:nvSpPr>
          <p:spPr>
            <a:xfrm flipH="false" flipV="false" rot="0">
              <a:off x="0" y="0"/>
              <a:ext cx="3383153" cy="19050"/>
            </a:xfrm>
            <a:custGeom>
              <a:avLst/>
              <a:gdLst/>
              <a:ahLst/>
              <a:cxnLst/>
              <a:rect r="r" b="b" t="t" l="l"/>
              <a:pathLst>
                <a:path h="19050" w="3383153">
                  <a:moveTo>
                    <a:pt x="0" y="0"/>
                  </a:moveTo>
                  <a:lnTo>
                    <a:pt x="3383153" y="0"/>
                  </a:lnTo>
                  <a:lnTo>
                    <a:pt x="3383153" y="19050"/>
                  </a:lnTo>
                  <a:lnTo>
                    <a:pt x="0" y="19050"/>
                  </a:lnTo>
                  <a:close/>
                </a:path>
              </a:pathLst>
            </a:custGeom>
            <a:solidFill>
              <a:srgbClr val="334155"/>
            </a:solidFill>
          </p:spPr>
        </p:sp>
      </p:grpSp>
      <p:grpSp>
        <p:nvGrpSpPr>
          <p:cNvPr name="Group 18" id="18"/>
          <p:cNvGrpSpPr/>
          <p:nvPr/>
        </p:nvGrpSpPr>
        <p:grpSpPr>
          <a:xfrm rot="0">
            <a:off x="3394624" y="5446443"/>
            <a:ext cx="3880171" cy="14288"/>
            <a:chOff x="0" y="0"/>
            <a:chExt cx="5173561" cy="19050"/>
          </a:xfrm>
        </p:grpSpPr>
        <p:sp>
          <p:nvSpPr>
            <p:cNvPr name="Freeform 19" id="19"/>
            <p:cNvSpPr/>
            <p:nvPr/>
          </p:nvSpPr>
          <p:spPr>
            <a:xfrm flipH="false" flipV="false" rot="0">
              <a:off x="0" y="0"/>
              <a:ext cx="5173599" cy="19050"/>
            </a:xfrm>
            <a:custGeom>
              <a:avLst/>
              <a:gdLst/>
              <a:ahLst/>
              <a:cxnLst/>
              <a:rect r="r" b="b" t="t" l="l"/>
              <a:pathLst>
                <a:path h="19050" w="5173599">
                  <a:moveTo>
                    <a:pt x="0" y="0"/>
                  </a:moveTo>
                  <a:lnTo>
                    <a:pt x="5173599" y="0"/>
                  </a:lnTo>
                  <a:lnTo>
                    <a:pt x="5173599" y="19050"/>
                  </a:lnTo>
                  <a:lnTo>
                    <a:pt x="0" y="19050"/>
                  </a:lnTo>
                  <a:close/>
                </a:path>
              </a:pathLst>
            </a:custGeom>
            <a:solidFill>
              <a:srgbClr val="334155"/>
            </a:solidFill>
          </p:spPr>
        </p:sp>
      </p:grpSp>
      <p:grpSp>
        <p:nvGrpSpPr>
          <p:cNvPr name="Group 20" id="20"/>
          <p:cNvGrpSpPr/>
          <p:nvPr/>
        </p:nvGrpSpPr>
        <p:grpSpPr>
          <a:xfrm rot="0">
            <a:off x="7274795" y="5446443"/>
            <a:ext cx="5014912" cy="14288"/>
            <a:chOff x="0" y="0"/>
            <a:chExt cx="6686550" cy="19050"/>
          </a:xfrm>
        </p:grpSpPr>
        <p:sp>
          <p:nvSpPr>
            <p:cNvPr name="Freeform 21" id="21"/>
            <p:cNvSpPr/>
            <p:nvPr/>
          </p:nvSpPr>
          <p:spPr>
            <a:xfrm flipH="false" flipV="false" rot="0">
              <a:off x="0" y="0"/>
              <a:ext cx="6686550" cy="19050"/>
            </a:xfrm>
            <a:custGeom>
              <a:avLst/>
              <a:gdLst/>
              <a:ahLst/>
              <a:cxnLst/>
              <a:rect r="r" b="b" t="t" l="l"/>
              <a:pathLst>
                <a:path h="19050" w="6686550">
                  <a:moveTo>
                    <a:pt x="0" y="0"/>
                  </a:moveTo>
                  <a:lnTo>
                    <a:pt x="6686550" y="0"/>
                  </a:lnTo>
                  <a:lnTo>
                    <a:pt x="6686550" y="19050"/>
                  </a:lnTo>
                  <a:lnTo>
                    <a:pt x="0" y="19050"/>
                  </a:lnTo>
                  <a:close/>
                </a:path>
              </a:pathLst>
            </a:custGeom>
            <a:solidFill>
              <a:srgbClr val="334155"/>
            </a:solidFill>
          </p:spPr>
        </p:sp>
      </p:grpSp>
      <p:grpSp>
        <p:nvGrpSpPr>
          <p:cNvPr name="Group 22" id="22"/>
          <p:cNvGrpSpPr/>
          <p:nvPr/>
        </p:nvGrpSpPr>
        <p:grpSpPr>
          <a:xfrm rot="0">
            <a:off x="12289707" y="5446443"/>
            <a:ext cx="5141043" cy="14288"/>
            <a:chOff x="0" y="0"/>
            <a:chExt cx="6854723" cy="19050"/>
          </a:xfrm>
        </p:grpSpPr>
        <p:sp>
          <p:nvSpPr>
            <p:cNvPr name="Freeform 23" id="23"/>
            <p:cNvSpPr/>
            <p:nvPr/>
          </p:nvSpPr>
          <p:spPr>
            <a:xfrm flipH="false" flipV="false" rot="0">
              <a:off x="0" y="0"/>
              <a:ext cx="6854698" cy="19050"/>
            </a:xfrm>
            <a:custGeom>
              <a:avLst/>
              <a:gdLst/>
              <a:ahLst/>
              <a:cxnLst/>
              <a:rect r="r" b="b" t="t" l="l"/>
              <a:pathLst>
                <a:path h="19050" w="6854698">
                  <a:moveTo>
                    <a:pt x="0" y="0"/>
                  </a:moveTo>
                  <a:lnTo>
                    <a:pt x="6854698" y="0"/>
                  </a:lnTo>
                  <a:lnTo>
                    <a:pt x="6854698" y="19050"/>
                  </a:lnTo>
                  <a:lnTo>
                    <a:pt x="0" y="19050"/>
                  </a:lnTo>
                  <a:close/>
                </a:path>
              </a:pathLst>
            </a:custGeom>
            <a:solidFill>
              <a:srgbClr val="334155"/>
            </a:solidFill>
          </p:spPr>
        </p:sp>
      </p:grpSp>
      <p:grpSp>
        <p:nvGrpSpPr>
          <p:cNvPr name="Group 24" id="24"/>
          <p:cNvGrpSpPr/>
          <p:nvPr/>
        </p:nvGrpSpPr>
        <p:grpSpPr>
          <a:xfrm rot="0">
            <a:off x="857250" y="6855095"/>
            <a:ext cx="2537374" cy="14288"/>
            <a:chOff x="0" y="0"/>
            <a:chExt cx="3383166" cy="19050"/>
          </a:xfrm>
        </p:grpSpPr>
        <p:sp>
          <p:nvSpPr>
            <p:cNvPr name="Freeform 25" id="25"/>
            <p:cNvSpPr/>
            <p:nvPr/>
          </p:nvSpPr>
          <p:spPr>
            <a:xfrm flipH="false" flipV="false" rot="0">
              <a:off x="0" y="0"/>
              <a:ext cx="3383153" cy="19050"/>
            </a:xfrm>
            <a:custGeom>
              <a:avLst/>
              <a:gdLst/>
              <a:ahLst/>
              <a:cxnLst/>
              <a:rect r="r" b="b" t="t" l="l"/>
              <a:pathLst>
                <a:path h="19050" w="3383153">
                  <a:moveTo>
                    <a:pt x="0" y="0"/>
                  </a:moveTo>
                  <a:lnTo>
                    <a:pt x="3383153" y="0"/>
                  </a:lnTo>
                  <a:lnTo>
                    <a:pt x="3383153" y="19050"/>
                  </a:lnTo>
                  <a:lnTo>
                    <a:pt x="0" y="19050"/>
                  </a:lnTo>
                  <a:close/>
                </a:path>
              </a:pathLst>
            </a:custGeom>
            <a:solidFill>
              <a:srgbClr val="334155"/>
            </a:solidFill>
          </p:spPr>
        </p:sp>
      </p:grpSp>
      <p:grpSp>
        <p:nvGrpSpPr>
          <p:cNvPr name="Group 26" id="26"/>
          <p:cNvGrpSpPr/>
          <p:nvPr/>
        </p:nvGrpSpPr>
        <p:grpSpPr>
          <a:xfrm rot="0">
            <a:off x="3394624" y="6855095"/>
            <a:ext cx="3880171" cy="14288"/>
            <a:chOff x="0" y="0"/>
            <a:chExt cx="5173561" cy="19050"/>
          </a:xfrm>
        </p:grpSpPr>
        <p:sp>
          <p:nvSpPr>
            <p:cNvPr name="Freeform 27" id="27"/>
            <p:cNvSpPr/>
            <p:nvPr/>
          </p:nvSpPr>
          <p:spPr>
            <a:xfrm flipH="false" flipV="false" rot="0">
              <a:off x="0" y="0"/>
              <a:ext cx="5173599" cy="19050"/>
            </a:xfrm>
            <a:custGeom>
              <a:avLst/>
              <a:gdLst/>
              <a:ahLst/>
              <a:cxnLst/>
              <a:rect r="r" b="b" t="t" l="l"/>
              <a:pathLst>
                <a:path h="19050" w="5173599">
                  <a:moveTo>
                    <a:pt x="0" y="0"/>
                  </a:moveTo>
                  <a:lnTo>
                    <a:pt x="5173599" y="0"/>
                  </a:lnTo>
                  <a:lnTo>
                    <a:pt x="5173599" y="19050"/>
                  </a:lnTo>
                  <a:lnTo>
                    <a:pt x="0" y="19050"/>
                  </a:lnTo>
                  <a:close/>
                </a:path>
              </a:pathLst>
            </a:custGeom>
            <a:solidFill>
              <a:srgbClr val="334155"/>
            </a:solidFill>
          </p:spPr>
        </p:sp>
      </p:grpSp>
      <p:grpSp>
        <p:nvGrpSpPr>
          <p:cNvPr name="Group 28" id="28"/>
          <p:cNvGrpSpPr/>
          <p:nvPr/>
        </p:nvGrpSpPr>
        <p:grpSpPr>
          <a:xfrm rot="0">
            <a:off x="7274795" y="6855095"/>
            <a:ext cx="5014912" cy="14288"/>
            <a:chOff x="0" y="0"/>
            <a:chExt cx="6686550" cy="19050"/>
          </a:xfrm>
        </p:grpSpPr>
        <p:sp>
          <p:nvSpPr>
            <p:cNvPr name="Freeform 29" id="29"/>
            <p:cNvSpPr/>
            <p:nvPr/>
          </p:nvSpPr>
          <p:spPr>
            <a:xfrm flipH="false" flipV="false" rot="0">
              <a:off x="0" y="0"/>
              <a:ext cx="6686550" cy="19050"/>
            </a:xfrm>
            <a:custGeom>
              <a:avLst/>
              <a:gdLst/>
              <a:ahLst/>
              <a:cxnLst/>
              <a:rect r="r" b="b" t="t" l="l"/>
              <a:pathLst>
                <a:path h="19050" w="6686550">
                  <a:moveTo>
                    <a:pt x="0" y="0"/>
                  </a:moveTo>
                  <a:lnTo>
                    <a:pt x="6686550" y="0"/>
                  </a:lnTo>
                  <a:lnTo>
                    <a:pt x="6686550" y="19050"/>
                  </a:lnTo>
                  <a:lnTo>
                    <a:pt x="0" y="19050"/>
                  </a:lnTo>
                  <a:close/>
                </a:path>
              </a:pathLst>
            </a:custGeom>
            <a:solidFill>
              <a:srgbClr val="334155"/>
            </a:solidFill>
          </p:spPr>
        </p:sp>
      </p:grpSp>
      <p:grpSp>
        <p:nvGrpSpPr>
          <p:cNvPr name="Group 30" id="30"/>
          <p:cNvGrpSpPr/>
          <p:nvPr/>
        </p:nvGrpSpPr>
        <p:grpSpPr>
          <a:xfrm rot="0">
            <a:off x="12289707" y="6855095"/>
            <a:ext cx="5141043" cy="14288"/>
            <a:chOff x="0" y="0"/>
            <a:chExt cx="6854723" cy="19050"/>
          </a:xfrm>
        </p:grpSpPr>
        <p:sp>
          <p:nvSpPr>
            <p:cNvPr name="Freeform 31" id="31"/>
            <p:cNvSpPr/>
            <p:nvPr/>
          </p:nvSpPr>
          <p:spPr>
            <a:xfrm flipH="false" flipV="false" rot="0">
              <a:off x="0" y="0"/>
              <a:ext cx="6854698" cy="19050"/>
            </a:xfrm>
            <a:custGeom>
              <a:avLst/>
              <a:gdLst/>
              <a:ahLst/>
              <a:cxnLst/>
              <a:rect r="r" b="b" t="t" l="l"/>
              <a:pathLst>
                <a:path h="19050" w="6854698">
                  <a:moveTo>
                    <a:pt x="0" y="0"/>
                  </a:moveTo>
                  <a:lnTo>
                    <a:pt x="6854698" y="0"/>
                  </a:lnTo>
                  <a:lnTo>
                    <a:pt x="6854698" y="19050"/>
                  </a:lnTo>
                  <a:lnTo>
                    <a:pt x="0" y="19050"/>
                  </a:lnTo>
                  <a:close/>
                </a:path>
              </a:pathLst>
            </a:custGeom>
            <a:solidFill>
              <a:srgbClr val="334155"/>
            </a:solidFill>
          </p:spPr>
        </p:sp>
      </p:grpSp>
      <p:sp>
        <p:nvSpPr>
          <p:cNvPr name="TextBox 32" id="32"/>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方案机制与生成质量横向对比</a:t>
            </a:r>
          </a:p>
        </p:txBody>
      </p:sp>
      <p:grpSp>
        <p:nvGrpSpPr>
          <p:cNvPr name="Group 33" id="33"/>
          <p:cNvGrpSpPr/>
          <p:nvPr/>
        </p:nvGrpSpPr>
        <p:grpSpPr>
          <a:xfrm rot="0">
            <a:off x="857250" y="857250"/>
            <a:ext cx="85725" cy="571500"/>
            <a:chOff x="0" y="0"/>
            <a:chExt cx="114300" cy="762000"/>
          </a:xfrm>
        </p:grpSpPr>
        <p:sp>
          <p:nvSpPr>
            <p:cNvPr name="Freeform 34" id="34"/>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6" id="6"/>
          <p:cNvSpPr/>
          <p:nvPr/>
        </p:nvSpPr>
        <p:spPr>
          <a:xfrm flipH="false" flipV="false" rot="0">
            <a:off x="900113" y="6407996"/>
            <a:ext cx="7758113" cy="3617220"/>
          </a:xfrm>
          <a:custGeom>
            <a:avLst/>
            <a:gdLst/>
            <a:ahLst/>
            <a:cxnLst/>
            <a:rect r="r" b="b" t="t" l="l"/>
            <a:pathLst>
              <a:path h="3617220" w="7758113">
                <a:moveTo>
                  <a:pt x="0" y="0"/>
                </a:moveTo>
                <a:lnTo>
                  <a:pt x="7758112" y="0"/>
                </a:lnTo>
                <a:lnTo>
                  <a:pt x="7758112" y="3617220"/>
                </a:lnTo>
                <a:lnTo>
                  <a:pt x="0" y="3617220"/>
                </a:lnTo>
                <a:lnTo>
                  <a:pt x="0" y="0"/>
                </a:lnTo>
                <a:close/>
              </a:path>
            </a:pathLst>
          </a:custGeom>
          <a:blipFill>
            <a:blip r:embed="rId4"/>
            <a:stretch>
              <a:fillRect l="0" t="0" r="0" b="0"/>
            </a:stretch>
          </a:blipFill>
        </p:spPr>
      </p:sp>
      <p:sp>
        <p:nvSpPr>
          <p:cNvPr name="Freeform 7" id="7"/>
          <p:cNvSpPr/>
          <p:nvPr/>
        </p:nvSpPr>
        <p:spPr>
          <a:xfrm flipH="false" flipV="false" rot="0">
            <a:off x="900112" y="4260581"/>
            <a:ext cx="7758113" cy="2046202"/>
          </a:xfrm>
          <a:custGeom>
            <a:avLst/>
            <a:gdLst/>
            <a:ahLst/>
            <a:cxnLst/>
            <a:rect r="r" b="b" t="t" l="l"/>
            <a:pathLst>
              <a:path h="2046202" w="7758113">
                <a:moveTo>
                  <a:pt x="0" y="0"/>
                </a:moveTo>
                <a:lnTo>
                  <a:pt x="7758113" y="0"/>
                </a:lnTo>
                <a:lnTo>
                  <a:pt x="7758113" y="2046202"/>
                </a:lnTo>
                <a:lnTo>
                  <a:pt x="0" y="2046202"/>
                </a:lnTo>
                <a:lnTo>
                  <a:pt x="0" y="0"/>
                </a:lnTo>
                <a:close/>
              </a:path>
            </a:pathLst>
          </a:custGeom>
          <a:blipFill>
            <a:blip r:embed="rId5"/>
            <a:stretch>
              <a:fillRect l="0" t="0" r="0" b="0"/>
            </a:stretch>
          </a:blipFill>
        </p:spPr>
      </p:sp>
      <p:sp>
        <p:nvSpPr>
          <p:cNvPr name="TextBox 8" id="8"/>
          <p:cNvSpPr txBox="true"/>
          <p:nvPr/>
        </p:nvSpPr>
        <p:spPr>
          <a:xfrm rot="0">
            <a:off x="1071562" y="1763259"/>
            <a:ext cx="2203748" cy="1609725"/>
          </a:xfrm>
          <a:prstGeom prst="rect">
            <a:avLst/>
          </a:prstGeom>
        </p:spPr>
        <p:txBody>
          <a:bodyPr anchor="t" rtlCol="false" tIns="0" lIns="0" bIns="0" rIns="0">
            <a:spAutoFit/>
          </a:bodyPr>
          <a:lstStyle/>
          <a:p>
            <a:pPr algn="ctr">
              <a:lnSpc>
                <a:spcPts val="12480"/>
              </a:lnSpc>
            </a:pPr>
            <a:r>
              <a:rPr lang="en-US" b="true" sz="10400">
                <a:solidFill>
                  <a:srgbClr val="06B6D4"/>
                </a:solidFill>
                <a:latin typeface="Arimo Bold"/>
                <a:ea typeface="Arimo Bold"/>
                <a:cs typeface="Arimo Bold"/>
                <a:sym typeface="Arimo Bold"/>
              </a:rPr>
              <a:t>120</a:t>
            </a:r>
          </a:p>
        </p:txBody>
      </p:sp>
      <p:sp>
        <p:nvSpPr>
          <p:cNvPr name="TextBox 9" id="9"/>
          <p:cNvSpPr txBox="true"/>
          <p:nvPr/>
        </p:nvSpPr>
        <p:spPr>
          <a:xfrm rot="0">
            <a:off x="3606678" y="2634030"/>
            <a:ext cx="2344982" cy="419100"/>
          </a:xfrm>
          <a:prstGeom prst="rect">
            <a:avLst/>
          </a:prstGeom>
        </p:spPr>
        <p:txBody>
          <a:bodyPr anchor="t" rtlCol="false" tIns="0" lIns="0" bIns="0" rIns="0">
            <a:spAutoFit/>
          </a:bodyPr>
          <a:lstStyle/>
          <a:p>
            <a:pPr algn="ctr">
              <a:lnSpc>
                <a:spcPts val="3240"/>
              </a:lnSpc>
            </a:pPr>
            <a:r>
              <a:rPr lang="en-US" sz="2700">
                <a:solidFill>
                  <a:srgbClr val="F8FAFC"/>
                </a:solidFill>
                <a:latin typeface="Inter"/>
                <a:ea typeface="Inter"/>
                <a:cs typeface="Inter"/>
                <a:sym typeface="Inter"/>
              </a:rPr>
              <a:t>评测集样本量</a:t>
            </a:r>
          </a:p>
        </p:txBody>
      </p:sp>
      <p:sp>
        <p:nvSpPr>
          <p:cNvPr name="TextBox 10" id="10"/>
          <p:cNvSpPr txBox="true"/>
          <p:nvPr/>
        </p:nvSpPr>
        <p:spPr>
          <a:xfrm rot="0">
            <a:off x="900112" y="3230109"/>
            <a:ext cx="7929562" cy="929259"/>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评测集采用 6 格分层抽样，确保不同 query 长度和证据强度的样本均衡：</a:t>
            </a:r>
          </a:p>
        </p:txBody>
      </p:sp>
      <p:sp>
        <p:nvSpPr>
          <p:cNvPr name="TextBox 11" id="11"/>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分层测试与科学评测体系构建</a:t>
            </a:r>
          </a:p>
        </p:txBody>
      </p:sp>
      <p:sp>
        <p:nvSpPr>
          <p:cNvPr name="TextBox 12" id="12"/>
          <p:cNvSpPr txBox="true"/>
          <p:nvPr/>
        </p:nvSpPr>
        <p:spPr>
          <a:xfrm rot="0">
            <a:off x="9933736" y="1782309"/>
            <a:ext cx="2344982" cy="419100"/>
          </a:xfrm>
          <a:prstGeom prst="rect">
            <a:avLst/>
          </a:prstGeom>
        </p:spPr>
        <p:txBody>
          <a:bodyPr anchor="t" rtlCol="false" tIns="0" lIns="0" bIns="0" rIns="0">
            <a:spAutoFit/>
          </a:bodyPr>
          <a:lstStyle/>
          <a:p>
            <a:pPr algn="l">
              <a:lnSpc>
                <a:spcPts val="3240"/>
              </a:lnSpc>
            </a:pPr>
            <a:r>
              <a:rPr lang="en-US" sz="2700">
                <a:solidFill>
                  <a:srgbClr val="F8FAFC"/>
                </a:solidFill>
                <a:latin typeface="Inter"/>
                <a:ea typeface="Inter"/>
                <a:cs typeface="Inter"/>
                <a:sym typeface="Inter"/>
              </a:rPr>
              <a:t>评测对象</a:t>
            </a:r>
          </a:p>
        </p:txBody>
      </p:sp>
      <p:sp>
        <p:nvSpPr>
          <p:cNvPr name="TextBox 13" id="13"/>
          <p:cNvSpPr txBox="true"/>
          <p:nvPr/>
        </p:nvSpPr>
        <p:spPr>
          <a:xfrm rot="0">
            <a:off x="9933736" y="2422256"/>
            <a:ext cx="7325564" cy="5305425"/>
          </a:xfrm>
          <a:prstGeom prst="rect">
            <a:avLst/>
          </a:prstGeom>
        </p:spPr>
        <p:txBody>
          <a:bodyPr anchor="t" rtlCol="false" tIns="0" lIns="0" bIns="0" rIns="0">
            <a:spAutoFit/>
          </a:bodyPr>
          <a:lstStyle/>
          <a:p>
            <a:pPr algn="l">
              <a:lnSpc>
                <a:spcPts val="2879"/>
              </a:lnSpc>
            </a:pPr>
            <a:r>
              <a:rPr lang="en-US" sz="2400" b="true">
                <a:solidFill>
                  <a:srgbClr val="94A3B8"/>
                </a:solidFill>
                <a:latin typeface="Arimo Bold"/>
                <a:ea typeface="Arimo Bold"/>
                <a:cs typeface="Arimo Bold"/>
                <a:sym typeface="Arimo Bold"/>
              </a:rPr>
              <a:t>多baseline:</a:t>
            </a:r>
          </a:p>
          <a:p>
            <a:pPr algn="l" marL="438278" indent="-219139" lvl="1">
              <a:lnSpc>
                <a:spcPts val="2436"/>
              </a:lnSpc>
              <a:buFont typeface="Arial"/>
              <a:buChar char="•"/>
            </a:pPr>
            <a:r>
              <a:rPr lang="en-US" sz="2030">
                <a:solidFill>
                  <a:srgbClr val="94A3B8"/>
                </a:solidFill>
                <a:latin typeface="Arimo"/>
                <a:ea typeface="Arimo"/>
                <a:cs typeface="Arimo"/>
                <a:sym typeface="Arimo"/>
              </a:rPr>
              <a:t>deepseek_chat ：V5 真实 LLM， DeepSeek API 生成，经 parser/validator/ranker/rewriter 后处理 0.00%</a:t>
            </a:r>
          </a:p>
          <a:p>
            <a:pPr algn="l" marL="438278" indent="-219139" lvl="1">
              <a:lnSpc>
                <a:spcPts val="2436"/>
              </a:lnSpc>
              <a:buFont typeface="Arial"/>
              <a:buChar char="•"/>
            </a:pPr>
            <a:r>
              <a:rPr lang="en-US" sz="2030">
                <a:solidFill>
                  <a:srgbClr val="94A3B8"/>
                </a:solidFill>
                <a:latin typeface="Arimo"/>
                <a:ea typeface="Arimo"/>
                <a:cs typeface="Arimo"/>
                <a:sym typeface="Arimo"/>
              </a:rPr>
              <a:t>baseline_v5_local_fake ：V5 mock V5 ，全链路，provider 为 local_fake（本地 mock） 100.00%</a:t>
            </a:r>
          </a:p>
          <a:p>
            <a:pPr algn="l" marL="438278" indent="-219139" lvl="1">
              <a:lnSpc>
                <a:spcPts val="2436"/>
              </a:lnSpc>
              <a:buFont typeface="Arial"/>
              <a:buChar char="•"/>
            </a:pPr>
            <a:r>
              <a:rPr lang="en-US" sz="2030">
                <a:solidFill>
                  <a:srgbClr val="94A3B8"/>
                </a:solidFill>
                <a:latin typeface="Arimo"/>
                <a:ea typeface="Arimo"/>
                <a:cs typeface="Arimo"/>
                <a:sym typeface="Arimo"/>
              </a:rPr>
              <a:t>baseline_llm_topk_local_fake ：旧版 LLM mock， 旧版 llm 模式，provider 为 mock 99.17%</a:t>
            </a:r>
          </a:p>
          <a:p>
            <a:pPr algn="l" marL="438278" indent="-219139" lvl="1">
              <a:lnSpc>
                <a:spcPts val="2436"/>
              </a:lnSpc>
              <a:buFont typeface="Arial"/>
              <a:buChar char="•"/>
            </a:pPr>
            <a:r>
              <a:rPr lang="en-US" sz="2030">
                <a:solidFill>
                  <a:srgbClr val="94A3B8"/>
                </a:solidFill>
                <a:latin typeface="Arimo"/>
                <a:ea typeface="Arimo"/>
                <a:cs typeface="Arimo"/>
                <a:sym typeface="Arimo"/>
              </a:rPr>
              <a:t>baseline_summary_topk： 旧版 summary ，旧版 summary 模式，top_k=3 35.83%</a:t>
            </a:r>
          </a:p>
          <a:p>
            <a:pPr algn="l" marL="438278" indent="-219139" lvl="1">
              <a:lnSpc>
                <a:spcPts val="2436"/>
              </a:lnSpc>
              <a:buFont typeface="Arial"/>
              <a:buChar char="•"/>
            </a:pPr>
            <a:r>
              <a:rPr lang="en-US" sz="2030">
                <a:solidFill>
                  <a:srgbClr val="94A3B8"/>
                </a:solidFill>
                <a:latin typeface="Arimo"/>
                <a:ea typeface="Arimo"/>
                <a:cs typeface="Arimo"/>
                <a:sym typeface="Arimo"/>
              </a:rPr>
              <a:t>baseline_template_top1： 旧版 template ，旧版 template 模式，top_k=1 0.00%</a:t>
            </a:r>
          </a:p>
          <a:p>
            <a:pPr algn="l" marL="438278" indent="-219139" lvl="1">
              <a:lnSpc>
                <a:spcPts val="2436"/>
              </a:lnSpc>
              <a:buFont typeface="Arial"/>
              <a:buChar char="•"/>
            </a:pPr>
            <a:r>
              <a:rPr lang="en-US" sz="2030">
                <a:solidFill>
                  <a:srgbClr val="94A3B8"/>
                </a:solidFill>
                <a:latin typeface="Arimo"/>
                <a:ea typeface="Arimo"/>
                <a:cs typeface="Arimo"/>
                <a:sym typeface="Arimo"/>
              </a:rPr>
              <a:t>baseline_template_personalized ：旧版 template 个性化 ，优先使用同 query 的 user_id/session_id</a:t>
            </a:r>
          </a:p>
          <a:p>
            <a:pPr algn="l">
              <a:lnSpc>
                <a:spcPts val="2436"/>
              </a:lnSpc>
            </a:pPr>
          </a:p>
          <a:p>
            <a:pPr algn="l">
              <a:lnSpc>
                <a:spcPts val="2879"/>
              </a:lnSpc>
            </a:pPr>
            <a:r>
              <a:rPr lang="en-US" b="true" sz="2400">
                <a:solidFill>
                  <a:srgbClr val="94A3B8"/>
                </a:solidFill>
                <a:latin typeface="Arimo Bold"/>
                <a:ea typeface="Arimo Bold"/>
                <a:cs typeface="Arimo Bold"/>
                <a:sym typeface="Arimo Bold"/>
              </a:rPr>
              <a:t>原标题对照：</a:t>
            </a:r>
          </a:p>
          <a:p>
            <a:pPr algn="l">
              <a:lnSpc>
                <a:spcPts val="2436"/>
              </a:lnSpc>
            </a:pPr>
            <a:r>
              <a:rPr lang="en-US" sz="2030">
                <a:solidFill>
                  <a:srgbClr val="94A3B8"/>
                </a:solidFill>
                <a:latin typeface="Arimo"/>
                <a:ea typeface="Arimo"/>
                <a:cs typeface="Arimo"/>
                <a:sym typeface="Arimo"/>
              </a:rPr>
              <a:t>对每个样本的 selected_evidence 中的top-1商品标题进行评测：</a:t>
            </a:r>
          </a:p>
          <a:p>
            <a:pPr algn="l" marL="438278" indent="-219139" lvl="1">
              <a:lnSpc>
                <a:spcPts val="2436"/>
              </a:lnSpc>
              <a:buFont typeface="Arial"/>
              <a:buChar char="•"/>
            </a:pPr>
            <a:r>
              <a:rPr lang="en-US" sz="2030">
                <a:solidFill>
                  <a:srgbClr val="94A3B8"/>
                </a:solidFill>
                <a:latin typeface="Arimo"/>
                <a:ea typeface="Arimo"/>
                <a:cs typeface="Arimo"/>
                <a:sym typeface="Arimo"/>
              </a:rPr>
              <a:t>title_rank0: top-1 商品标题</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000250" y="2330425"/>
            <a:ext cx="14287500" cy="1923012"/>
            <a:chOff x="0" y="0"/>
            <a:chExt cx="19050000" cy="2564016"/>
          </a:xfrm>
        </p:grpSpPr>
        <p:sp>
          <p:nvSpPr>
            <p:cNvPr name="Freeform 5" id="5"/>
            <p:cNvSpPr/>
            <p:nvPr/>
          </p:nvSpPr>
          <p:spPr>
            <a:xfrm flipH="false" flipV="false" rot="0">
              <a:off x="0" y="0"/>
              <a:ext cx="19050000" cy="2564003"/>
            </a:xfrm>
            <a:custGeom>
              <a:avLst/>
              <a:gdLst/>
              <a:ahLst/>
              <a:cxnLst/>
              <a:rect r="r" b="b" t="t" l="l"/>
              <a:pathLst>
                <a:path h="2564003" w="19050000">
                  <a:moveTo>
                    <a:pt x="0" y="152400"/>
                  </a:moveTo>
                  <a:cubicBezTo>
                    <a:pt x="0" y="68199"/>
                    <a:pt x="68199" y="0"/>
                    <a:pt x="152400" y="0"/>
                  </a:cubicBezTo>
                  <a:lnTo>
                    <a:pt x="18897600" y="0"/>
                  </a:lnTo>
                  <a:cubicBezTo>
                    <a:pt x="18981801" y="0"/>
                    <a:pt x="19050000" y="68199"/>
                    <a:pt x="19050000" y="152400"/>
                  </a:cubicBezTo>
                  <a:lnTo>
                    <a:pt x="19050000" y="2411603"/>
                  </a:lnTo>
                  <a:cubicBezTo>
                    <a:pt x="19050000" y="2495804"/>
                    <a:pt x="18981801" y="2564003"/>
                    <a:pt x="18897600" y="2564003"/>
                  </a:cubicBezTo>
                  <a:lnTo>
                    <a:pt x="152400" y="2564003"/>
                  </a:lnTo>
                  <a:cubicBezTo>
                    <a:pt x="68199" y="2564003"/>
                    <a:pt x="0" y="2495804"/>
                    <a:pt x="0" y="2411603"/>
                  </a:cubicBezTo>
                  <a:close/>
                </a:path>
              </a:pathLst>
            </a:custGeom>
            <a:solidFill>
              <a:srgbClr val="1C2541"/>
            </a:solidFill>
          </p:spPr>
        </p:sp>
      </p:grpSp>
      <p:sp>
        <p:nvSpPr>
          <p:cNvPr name="TextBox 6" id="6"/>
          <p:cNvSpPr txBox="true"/>
          <p:nvPr/>
        </p:nvSpPr>
        <p:spPr>
          <a:xfrm rot="0">
            <a:off x="2857500" y="2473300"/>
            <a:ext cx="13001625" cy="1224915"/>
          </a:xfrm>
          <a:prstGeom prst="rect">
            <a:avLst/>
          </a:prstGeom>
        </p:spPr>
        <p:txBody>
          <a:bodyPr anchor="t" rtlCol="false" tIns="0" lIns="0" bIns="0" rIns="0">
            <a:spAutoFit/>
          </a:bodyPr>
          <a:lstStyle/>
          <a:p>
            <a:pPr algn="l">
              <a:lnSpc>
                <a:spcPts val="3887"/>
              </a:lnSpc>
            </a:pPr>
            <a:r>
              <a:rPr lang="en-US" sz="2025">
                <a:solidFill>
                  <a:srgbClr val="F8FAFC"/>
                </a:solidFill>
                <a:latin typeface="Inter"/>
                <a:ea typeface="Inter"/>
                <a:cs typeface="Inter"/>
                <a:sym typeface="Inter"/>
              </a:rPr>
              <a:t>相关性</a:t>
            </a:r>
          </a:p>
          <a:p>
            <a:pPr algn="l">
              <a:lnSpc>
                <a:spcPts val="3071"/>
              </a:lnSpc>
            </a:pPr>
            <a:r>
              <a:rPr lang="en-US" sz="1599">
                <a:solidFill>
                  <a:srgbClr val="94A3B8"/>
                </a:solidFill>
                <a:latin typeface="Inter"/>
                <a:ea typeface="Inter"/>
                <a:cs typeface="Inter"/>
                <a:sym typeface="Inter"/>
              </a:rPr>
              <a:t>BERTScore_query：文案与 query 的语义相似度，BERTScore F1(candidates=文案, references=query)</a:t>
            </a:r>
          </a:p>
          <a:p>
            <a:pPr algn="l">
              <a:lnSpc>
                <a:spcPts val="3071"/>
              </a:lnSpc>
            </a:pPr>
            <a:r>
              <a:rPr lang="en-US" sz="1599">
                <a:solidFill>
                  <a:srgbClr val="94A3B8"/>
                </a:solidFill>
                <a:latin typeface="Inter"/>
                <a:ea typeface="Inter"/>
                <a:cs typeface="Inter"/>
                <a:sym typeface="Inter"/>
              </a:rPr>
              <a:t>BERTScore_intent：文案与意图摘要的语义相似度，BERTScore F1(candidates=文案， references=intent_summary) </a:t>
            </a:r>
          </a:p>
        </p:txBody>
      </p:sp>
      <p:grpSp>
        <p:nvGrpSpPr>
          <p:cNvPr name="Group 7" id="7"/>
          <p:cNvGrpSpPr/>
          <p:nvPr/>
        </p:nvGrpSpPr>
        <p:grpSpPr>
          <a:xfrm rot="0">
            <a:off x="2000250" y="2330425"/>
            <a:ext cx="57150" cy="1923012"/>
            <a:chOff x="0" y="0"/>
            <a:chExt cx="76200" cy="2564016"/>
          </a:xfrm>
        </p:grpSpPr>
        <p:sp>
          <p:nvSpPr>
            <p:cNvPr name="Freeform 8" id="8"/>
            <p:cNvSpPr/>
            <p:nvPr/>
          </p:nvSpPr>
          <p:spPr>
            <a:xfrm flipH="false" flipV="false" rot="0">
              <a:off x="0" y="0"/>
              <a:ext cx="76200" cy="2564003"/>
            </a:xfrm>
            <a:custGeom>
              <a:avLst/>
              <a:gdLst/>
              <a:ahLst/>
              <a:cxnLst/>
              <a:rect r="r" b="b" t="t" l="l"/>
              <a:pathLst>
                <a:path h="2564003" w="76200">
                  <a:moveTo>
                    <a:pt x="0" y="0"/>
                  </a:moveTo>
                  <a:lnTo>
                    <a:pt x="76200" y="0"/>
                  </a:lnTo>
                  <a:lnTo>
                    <a:pt x="76200" y="2564003"/>
                  </a:lnTo>
                  <a:lnTo>
                    <a:pt x="0" y="2564003"/>
                  </a:lnTo>
                  <a:close/>
                </a:path>
              </a:pathLst>
            </a:custGeom>
            <a:solidFill>
              <a:srgbClr val="06B6D4"/>
            </a:solidFill>
          </p:spPr>
        </p:sp>
      </p:grpSp>
      <p:grpSp>
        <p:nvGrpSpPr>
          <p:cNvPr name="Group 9" id="9"/>
          <p:cNvGrpSpPr/>
          <p:nvPr/>
        </p:nvGrpSpPr>
        <p:grpSpPr>
          <a:xfrm rot="0">
            <a:off x="2000250" y="4539186"/>
            <a:ext cx="14287500" cy="1923012"/>
            <a:chOff x="0" y="0"/>
            <a:chExt cx="19050000" cy="2564016"/>
          </a:xfrm>
        </p:grpSpPr>
        <p:sp>
          <p:nvSpPr>
            <p:cNvPr name="Freeform 10" id="10"/>
            <p:cNvSpPr/>
            <p:nvPr/>
          </p:nvSpPr>
          <p:spPr>
            <a:xfrm flipH="false" flipV="false" rot="0">
              <a:off x="0" y="0"/>
              <a:ext cx="19050000" cy="2564003"/>
            </a:xfrm>
            <a:custGeom>
              <a:avLst/>
              <a:gdLst/>
              <a:ahLst/>
              <a:cxnLst/>
              <a:rect r="r" b="b" t="t" l="l"/>
              <a:pathLst>
                <a:path h="2564003" w="19050000">
                  <a:moveTo>
                    <a:pt x="0" y="152400"/>
                  </a:moveTo>
                  <a:cubicBezTo>
                    <a:pt x="0" y="68199"/>
                    <a:pt x="68199" y="0"/>
                    <a:pt x="152400" y="0"/>
                  </a:cubicBezTo>
                  <a:lnTo>
                    <a:pt x="18897600" y="0"/>
                  </a:lnTo>
                  <a:cubicBezTo>
                    <a:pt x="18981801" y="0"/>
                    <a:pt x="19050000" y="68199"/>
                    <a:pt x="19050000" y="152400"/>
                  </a:cubicBezTo>
                  <a:lnTo>
                    <a:pt x="19050000" y="2411603"/>
                  </a:lnTo>
                  <a:cubicBezTo>
                    <a:pt x="19050000" y="2495804"/>
                    <a:pt x="18981801" y="2564003"/>
                    <a:pt x="18897600" y="2564003"/>
                  </a:cubicBezTo>
                  <a:lnTo>
                    <a:pt x="152400" y="2564003"/>
                  </a:lnTo>
                  <a:cubicBezTo>
                    <a:pt x="68199" y="2564003"/>
                    <a:pt x="0" y="2495804"/>
                    <a:pt x="0" y="2411603"/>
                  </a:cubicBezTo>
                  <a:close/>
                </a:path>
              </a:pathLst>
            </a:custGeom>
            <a:solidFill>
              <a:srgbClr val="1C2541"/>
            </a:solidFill>
          </p:spPr>
        </p:sp>
      </p:grpSp>
      <p:sp>
        <p:nvSpPr>
          <p:cNvPr name="TextBox 11" id="11"/>
          <p:cNvSpPr txBox="true"/>
          <p:nvPr/>
        </p:nvSpPr>
        <p:spPr>
          <a:xfrm rot="0">
            <a:off x="2857500" y="4682061"/>
            <a:ext cx="13001625" cy="1605915"/>
          </a:xfrm>
          <a:prstGeom prst="rect">
            <a:avLst/>
          </a:prstGeom>
        </p:spPr>
        <p:txBody>
          <a:bodyPr anchor="t" rtlCol="false" tIns="0" lIns="0" bIns="0" rIns="0">
            <a:spAutoFit/>
          </a:bodyPr>
          <a:lstStyle/>
          <a:p>
            <a:pPr algn="l">
              <a:lnSpc>
                <a:spcPts val="3887"/>
              </a:lnSpc>
            </a:pPr>
            <a:r>
              <a:rPr lang="en-US" sz="2025">
                <a:solidFill>
                  <a:srgbClr val="F8FAFC"/>
                </a:solidFill>
                <a:latin typeface="Inter"/>
                <a:ea typeface="Inter"/>
                <a:cs typeface="Inter"/>
                <a:sym typeface="Inter"/>
              </a:rPr>
              <a:t>文案表达质量 </a:t>
            </a:r>
          </a:p>
          <a:p>
            <a:pPr algn="l">
              <a:lnSpc>
                <a:spcPts val="3071"/>
              </a:lnSpc>
            </a:pPr>
            <a:r>
              <a:rPr lang="en-US" sz="1599">
                <a:solidFill>
                  <a:srgbClr val="94A3B8"/>
                </a:solidFill>
                <a:latin typeface="Inter"/>
                <a:ea typeface="Inter"/>
                <a:cs typeface="Inter"/>
                <a:sym typeface="Inter"/>
              </a:rPr>
              <a:t>TTR (Type-Token Ratio)：词汇丰富度，不重复字符数 / 总字符数（排除标点空格）</a:t>
            </a:r>
          </a:p>
          <a:p>
            <a:pPr algn="l">
              <a:lnSpc>
                <a:spcPts val="3071"/>
              </a:lnSpc>
            </a:pPr>
            <a:r>
              <a:rPr lang="en-US" sz="1599">
                <a:solidFill>
                  <a:srgbClr val="94A3B8"/>
                </a:solidFill>
                <a:latin typeface="Inter"/>
                <a:ea typeface="Inter"/>
                <a:cs typeface="Inter"/>
                <a:sym typeface="Inter"/>
              </a:rPr>
              <a:t>营销分：营销要素丰富度，数字/量词、人称代词、情感词、行动词四类要素命中数之和（每类上限 3 分）</a:t>
            </a:r>
          </a:p>
          <a:p>
            <a:pPr algn="l">
              <a:lnSpc>
                <a:spcPts val="3071"/>
              </a:lnSpc>
            </a:pPr>
            <a:r>
              <a:rPr lang="en-US" sz="1599">
                <a:solidFill>
                  <a:srgbClr val="94A3B8"/>
                </a:solidFill>
                <a:latin typeface="Inter"/>
                <a:ea typeface="Inter"/>
                <a:cs typeface="Inter"/>
                <a:sym typeface="Inter"/>
              </a:rPr>
              <a:t>重复率、Query 覆盖率等</a:t>
            </a:r>
          </a:p>
        </p:txBody>
      </p:sp>
      <p:grpSp>
        <p:nvGrpSpPr>
          <p:cNvPr name="Group 12" id="12"/>
          <p:cNvGrpSpPr/>
          <p:nvPr/>
        </p:nvGrpSpPr>
        <p:grpSpPr>
          <a:xfrm rot="0">
            <a:off x="2000250" y="4539186"/>
            <a:ext cx="57150" cy="1923012"/>
            <a:chOff x="0" y="0"/>
            <a:chExt cx="76200" cy="2564016"/>
          </a:xfrm>
        </p:grpSpPr>
        <p:sp>
          <p:nvSpPr>
            <p:cNvPr name="Freeform 13" id="13"/>
            <p:cNvSpPr/>
            <p:nvPr/>
          </p:nvSpPr>
          <p:spPr>
            <a:xfrm flipH="false" flipV="false" rot="0">
              <a:off x="0" y="0"/>
              <a:ext cx="76200" cy="2564003"/>
            </a:xfrm>
            <a:custGeom>
              <a:avLst/>
              <a:gdLst/>
              <a:ahLst/>
              <a:cxnLst/>
              <a:rect r="r" b="b" t="t" l="l"/>
              <a:pathLst>
                <a:path h="2564003" w="76200">
                  <a:moveTo>
                    <a:pt x="0" y="0"/>
                  </a:moveTo>
                  <a:lnTo>
                    <a:pt x="76200" y="0"/>
                  </a:lnTo>
                  <a:lnTo>
                    <a:pt x="76200" y="2564003"/>
                  </a:lnTo>
                  <a:lnTo>
                    <a:pt x="0" y="2564003"/>
                  </a:lnTo>
                  <a:close/>
                </a:path>
              </a:pathLst>
            </a:custGeom>
            <a:solidFill>
              <a:srgbClr val="06B6D4"/>
            </a:solidFill>
          </p:spPr>
        </p:sp>
      </p:grpSp>
      <p:grpSp>
        <p:nvGrpSpPr>
          <p:cNvPr name="Group 14" id="14"/>
          <p:cNvGrpSpPr/>
          <p:nvPr/>
        </p:nvGrpSpPr>
        <p:grpSpPr>
          <a:xfrm rot="0">
            <a:off x="2000250" y="6747939"/>
            <a:ext cx="14287500" cy="1923012"/>
            <a:chOff x="0" y="0"/>
            <a:chExt cx="19050000" cy="2564016"/>
          </a:xfrm>
        </p:grpSpPr>
        <p:sp>
          <p:nvSpPr>
            <p:cNvPr name="Freeform 15" id="15"/>
            <p:cNvSpPr/>
            <p:nvPr/>
          </p:nvSpPr>
          <p:spPr>
            <a:xfrm flipH="false" flipV="false" rot="0">
              <a:off x="0" y="0"/>
              <a:ext cx="19050000" cy="2564003"/>
            </a:xfrm>
            <a:custGeom>
              <a:avLst/>
              <a:gdLst/>
              <a:ahLst/>
              <a:cxnLst/>
              <a:rect r="r" b="b" t="t" l="l"/>
              <a:pathLst>
                <a:path h="2564003" w="19050000">
                  <a:moveTo>
                    <a:pt x="0" y="152400"/>
                  </a:moveTo>
                  <a:cubicBezTo>
                    <a:pt x="0" y="68199"/>
                    <a:pt x="68199" y="0"/>
                    <a:pt x="152400" y="0"/>
                  </a:cubicBezTo>
                  <a:lnTo>
                    <a:pt x="18897600" y="0"/>
                  </a:lnTo>
                  <a:cubicBezTo>
                    <a:pt x="18981801" y="0"/>
                    <a:pt x="19050000" y="68199"/>
                    <a:pt x="19050000" y="152400"/>
                  </a:cubicBezTo>
                  <a:lnTo>
                    <a:pt x="19050000" y="2411603"/>
                  </a:lnTo>
                  <a:cubicBezTo>
                    <a:pt x="19050000" y="2495804"/>
                    <a:pt x="18981801" y="2564003"/>
                    <a:pt x="18897600" y="2564003"/>
                  </a:cubicBezTo>
                  <a:lnTo>
                    <a:pt x="152400" y="2564003"/>
                  </a:lnTo>
                  <a:cubicBezTo>
                    <a:pt x="68199" y="2564003"/>
                    <a:pt x="0" y="2495804"/>
                    <a:pt x="0" y="2411603"/>
                  </a:cubicBezTo>
                  <a:close/>
                </a:path>
              </a:pathLst>
            </a:custGeom>
            <a:solidFill>
              <a:srgbClr val="1C2541"/>
            </a:solidFill>
          </p:spPr>
        </p:sp>
      </p:grpSp>
      <p:sp>
        <p:nvSpPr>
          <p:cNvPr name="TextBox 16" id="16"/>
          <p:cNvSpPr txBox="true"/>
          <p:nvPr/>
        </p:nvSpPr>
        <p:spPr>
          <a:xfrm rot="0">
            <a:off x="2857500" y="6890814"/>
            <a:ext cx="13001625" cy="1224915"/>
          </a:xfrm>
          <a:prstGeom prst="rect">
            <a:avLst/>
          </a:prstGeom>
        </p:spPr>
        <p:txBody>
          <a:bodyPr anchor="t" rtlCol="false" tIns="0" lIns="0" bIns="0" rIns="0">
            <a:spAutoFit/>
          </a:bodyPr>
          <a:lstStyle/>
          <a:p>
            <a:pPr algn="l">
              <a:lnSpc>
                <a:spcPts val="3887"/>
              </a:lnSpc>
            </a:pPr>
            <a:r>
              <a:rPr lang="en-US" sz="2025">
                <a:solidFill>
                  <a:srgbClr val="F8FAFC"/>
                </a:solidFill>
                <a:latin typeface="Inter"/>
                <a:ea typeface="Inter"/>
                <a:cs typeface="Inter"/>
                <a:sym typeface="Inter"/>
              </a:rPr>
              <a:t>真实性与系统状态 </a:t>
            </a:r>
          </a:p>
          <a:p>
            <a:pPr algn="l">
              <a:lnSpc>
                <a:spcPts val="3071"/>
              </a:lnSpc>
            </a:pPr>
            <a:r>
              <a:rPr lang="en-US" sz="1599">
                <a:solidFill>
                  <a:srgbClr val="94A3B8"/>
                </a:solidFill>
                <a:latin typeface="Inter"/>
                <a:ea typeface="Inter"/>
                <a:cs typeface="Inter"/>
                <a:sym typeface="Inter"/>
              </a:rPr>
              <a:t> BERTScore_evidence：文案与召回证据的语义相似度，BERTScore F1(candidates=文案, references=evidence_titles_concat)</a:t>
            </a:r>
          </a:p>
          <a:p>
            <a:pPr algn="l">
              <a:lnSpc>
                <a:spcPts val="3071"/>
              </a:lnSpc>
            </a:pPr>
            <a:r>
              <a:rPr lang="en-US" sz="1599">
                <a:solidFill>
                  <a:srgbClr val="94A3B8"/>
                </a:solidFill>
                <a:latin typeface="Inter"/>
                <a:ea typeface="Inter"/>
                <a:cs typeface="Inter"/>
                <a:sym typeface="Inter"/>
              </a:rPr>
              <a:t>fallback 率：触发 fallback 的样本比例</a:t>
            </a:r>
          </a:p>
        </p:txBody>
      </p:sp>
      <p:grpSp>
        <p:nvGrpSpPr>
          <p:cNvPr name="Group 17" id="17"/>
          <p:cNvGrpSpPr/>
          <p:nvPr/>
        </p:nvGrpSpPr>
        <p:grpSpPr>
          <a:xfrm rot="0">
            <a:off x="2000250" y="6747939"/>
            <a:ext cx="57150" cy="1923012"/>
            <a:chOff x="0" y="0"/>
            <a:chExt cx="76200" cy="2564016"/>
          </a:xfrm>
        </p:grpSpPr>
        <p:sp>
          <p:nvSpPr>
            <p:cNvPr name="Freeform 18" id="18"/>
            <p:cNvSpPr/>
            <p:nvPr/>
          </p:nvSpPr>
          <p:spPr>
            <a:xfrm flipH="false" flipV="false" rot="0">
              <a:off x="0" y="0"/>
              <a:ext cx="76200" cy="2564003"/>
            </a:xfrm>
            <a:custGeom>
              <a:avLst/>
              <a:gdLst/>
              <a:ahLst/>
              <a:cxnLst/>
              <a:rect r="r" b="b" t="t" l="l"/>
              <a:pathLst>
                <a:path h="2564003" w="76200">
                  <a:moveTo>
                    <a:pt x="0" y="0"/>
                  </a:moveTo>
                  <a:lnTo>
                    <a:pt x="76200" y="0"/>
                  </a:lnTo>
                  <a:lnTo>
                    <a:pt x="76200" y="2564003"/>
                  </a:lnTo>
                  <a:lnTo>
                    <a:pt x="0" y="2564003"/>
                  </a:lnTo>
                  <a:close/>
                </a:path>
              </a:pathLst>
            </a:custGeom>
            <a:solidFill>
              <a:srgbClr val="06B6D4"/>
            </a:solidFill>
          </p:spPr>
        </p:sp>
      </p:grpSp>
      <p:grpSp>
        <p:nvGrpSpPr>
          <p:cNvPr name="Group 19" id="19"/>
          <p:cNvGrpSpPr/>
          <p:nvPr/>
        </p:nvGrpSpPr>
        <p:grpSpPr>
          <a:xfrm rot="0">
            <a:off x="2343150" y="2630462"/>
            <a:ext cx="342900" cy="371475"/>
            <a:chOff x="0" y="0"/>
            <a:chExt cx="457200" cy="495300"/>
          </a:xfrm>
        </p:grpSpPr>
        <p:sp>
          <p:nvSpPr>
            <p:cNvPr name="Freeform 20" id="20"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4"/>
              <a:stretch>
                <a:fillRect l="0" t="0" r="0" b="0"/>
              </a:stretch>
            </a:blipFill>
          </p:spPr>
        </p:sp>
      </p:grpSp>
      <p:grpSp>
        <p:nvGrpSpPr>
          <p:cNvPr name="Group 21" id="21"/>
          <p:cNvGrpSpPr/>
          <p:nvPr/>
        </p:nvGrpSpPr>
        <p:grpSpPr>
          <a:xfrm rot="0">
            <a:off x="2343150" y="4839224"/>
            <a:ext cx="342900" cy="371475"/>
            <a:chOff x="0" y="0"/>
            <a:chExt cx="457200" cy="495300"/>
          </a:xfrm>
        </p:grpSpPr>
        <p:sp>
          <p:nvSpPr>
            <p:cNvPr name="Freeform 22" id="22"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5"/>
              <a:stretch>
                <a:fillRect l="0" t="0" r="0" b="0"/>
              </a:stretch>
            </a:blipFill>
          </p:spPr>
        </p:sp>
      </p:grpSp>
      <p:grpSp>
        <p:nvGrpSpPr>
          <p:cNvPr name="Group 23" id="23"/>
          <p:cNvGrpSpPr/>
          <p:nvPr/>
        </p:nvGrpSpPr>
        <p:grpSpPr>
          <a:xfrm rot="0">
            <a:off x="2343150" y="7047976"/>
            <a:ext cx="342900" cy="371475"/>
            <a:chOff x="0" y="0"/>
            <a:chExt cx="457200" cy="495300"/>
          </a:xfrm>
        </p:grpSpPr>
        <p:sp>
          <p:nvSpPr>
            <p:cNvPr name="Freeform 24" id="24"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6"/>
              <a:stretch>
                <a:fillRect l="0" t="0" r="0" b="0"/>
              </a:stretch>
            </a:blipFill>
          </p:spPr>
        </p:sp>
      </p:grpSp>
      <p:sp>
        <p:nvSpPr>
          <p:cNvPr name="TextBox 25" id="25"/>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多维质量评测指标定义</a:t>
            </a:r>
          </a:p>
        </p:txBody>
      </p:sp>
      <p:grpSp>
        <p:nvGrpSpPr>
          <p:cNvPr name="Group 26" id="26"/>
          <p:cNvGrpSpPr/>
          <p:nvPr/>
        </p:nvGrpSpPr>
        <p:grpSpPr>
          <a:xfrm rot="0">
            <a:off x="857250" y="857250"/>
            <a:ext cx="85725" cy="571500"/>
            <a:chOff x="0" y="0"/>
            <a:chExt cx="114300" cy="762000"/>
          </a:xfrm>
        </p:grpSpPr>
        <p:sp>
          <p:nvSpPr>
            <p:cNvPr name="Freeform 27" id="27"/>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graphicFrame>
        <p:nvGraphicFramePr>
          <p:cNvPr name="Table 6" id="6"/>
          <p:cNvGraphicFramePr>
            <a:graphicFrameLocks noGrp="true"/>
          </p:cNvGraphicFramePr>
          <p:nvPr/>
        </p:nvGraphicFramePr>
        <p:xfrm>
          <a:off x="964406" y="1839316"/>
          <a:ext cx="16359188" cy="1162050"/>
        </p:xfrm>
        <a:graphic>
          <a:graphicData uri="http://schemas.openxmlformats.org/drawingml/2006/table">
            <a:tbl>
              <a:tblPr/>
              <a:tblGrid>
                <a:gridCol w="1993899"/>
                <a:gridCol w="1993899"/>
                <a:gridCol w="1546424"/>
                <a:gridCol w="1546424"/>
                <a:gridCol w="1546424"/>
                <a:gridCol w="1546424"/>
                <a:gridCol w="1546424"/>
                <a:gridCol w="1546424"/>
                <a:gridCol w="1546424"/>
                <a:gridCol w="1546424"/>
              </a:tblGrid>
              <a:tr h="1162050">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维度</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对象</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fallback</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BERTScore_q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BERTScore_i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BERTScore_e</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TTR</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营销分</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重复率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QC</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r>
            </a:tbl>
          </a:graphicData>
        </a:graphic>
      </p:graphicFrame>
      <p:sp>
        <p:nvSpPr>
          <p:cNvPr name="TextBox 7" id="7"/>
          <p:cNvSpPr txBox="true"/>
          <p:nvPr/>
        </p:nvSpPr>
        <p:spPr>
          <a:xfrm rot="0">
            <a:off x="1071562" y="828675"/>
            <a:ext cx="3429000"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核心评测数据</a:t>
            </a:r>
          </a:p>
        </p:txBody>
      </p:sp>
      <p:graphicFrame>
        <p:nvGraphicFramePr>
          <p:cNvPr name="Table 8" id="8"/>
          <p:cNvGraphicFramePr>
            <a:graphicFrameLocks noGrp="true"/>
          </p:cNvGraphicFramePr>
          <p:nvPr/>
        </p:nvGraphicFramePr>
        <p:xfrm>
          <a:off x="964406" y="3001366"/>
          <a:ext cx="16359188" cy="3924300"/>
        </p:xfrm>
        <a:graphic>
          <a:graphicData uri="http://schemas.openxmlformats.org/drawingml/2006/table">
            <a:tbl>
              <a:tblPr/>
              <a:tblGrid>
                <a:gridCol w="1993899"/>
                <a:gridCol w="1993899"/>
                <a:gridCol w="1546424"/>
                <a:gridCol w="1546424"/>
                <a:gridCol w="1546424"/>
                <a:gridCol w="1546424"/>
                <a:gridCol w="1546424"/>
                <a:gridCol w="1546424"/>
                <a:gridCol w="1546424"/>
                <a:gridCol w="1546424"/>
              </a:tblGrid>
              <a:tr h="981075">
                <a:tc rowSpan="4">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旧版本基线</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baseline_template_top1</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0.6718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0.5832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0.7852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0.7920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3.92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0.0156</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1.0000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81075">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旧版本基线</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baseline_template_personalized</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0.6718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0.5832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0.7852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0.7920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3.92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0.0156</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1.0000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81075">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旧版本基线</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baseline_summary_topk</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a:solidFill>
                            <a:srgbClr val="FFFFFF"/>
                          </a:solidFill>
                          <a:latin typeface="Inter"/>
                          <a:ea typeface="Inter"/>
                          <a:cs typeface="Inter"/>
                          <a:sym typeface="Inter"/>
                        </a:rPr>
                        <a:t>35.83%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0.6709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0.6030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0.6607</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0.8521</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3.72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0.0078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1.0000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81075">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旧版本基线</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baseline_llm_topk_local_fake</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a:solidFill>
                            <a:srgbClr val="FFFFFF"/>
                          </a:solidFill>
                          <a:latin typeface="Inter"/>
                          <a:ea typeface="Inter"/>
                          <a:cs typeface="Inter"/>
                          <a:sym typeface="Inter"/>
                        </a:rPr>
                        <a:t>99.17%</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0.6913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0.6089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0.6051</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0.9339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2.52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0.0056</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0.9994</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964406" y="7564130"/>
          <a:ext cx="16359188" cy="1885950"/>
        </p:xfrm>
        <a:graphic>
          <a:graphicData uri="http://schemas.openxmlformats.org/drawingml/2006/table">
            <a:tbl>
              <a:tblPr/>
              <a:tblGrid>
                <a:gridCol w="1993899"/>
                <a:gridCol w="1993899"/>
                <a:gridCol w="1546424"/>
                <a:gridCol w="1546424"/>
                <a:gridCol w="1546424"/>
                <a:gridCol w="1546424"/>
                <a:gridCol w="1546424"/>
                <a:gridCol w="1546424"/>
                <a:gridCol w="1546424"/>
                <a:gridCol w="1546424"/>
              </a:tblGrid>
              <a:tr h="894368">
                <a:tc rowSpan="2">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V5链路provider</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deepseek_chat</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0.6523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0.5933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0.6424</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0.9628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1.59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0.0164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0.5108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91582">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V5链路provider</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baseline_v5_local_fake</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a:solidFill>
                            <a:srgbClr val="FFFFFF"/>
                          </a:solidFill>
                          <a:latin typeface="Inter"/>
                          <a:ea typeface="Inter"/>
                          <a:cs typeface="Inter"/>
                          <a:sym typeface="Inter"/>
                        </a:rPr>
                        <a:t>100.00%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0.5400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0.5386</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0.5243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0.8639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0.82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0.0563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0.0664</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graphicFrame>
        <p:nvGraphicFramePr>
          <p:cNvPr name="Table 6" id="6"/>
          <p:cNvGraphicFramePr>
            <a:graphicFrameLocks noGrp="true"/>
          </p:cNvGraphicFramePr>
          <p:nvPr/>
        </p:nvGraphicFramePr>
        <p:xfrm>
          <a:off x="1028700" y="2953897"/>
          <a:ext cx="16359188" cy="3981450"/>
        </p:xfrm>
        <a:graphic>
          <a:graphicData uri="http://schemas.openxmlformats.org/drawingml/2006/table">
            <a:tbl>
              <a:tblPr/>
              <a:tblGrid>
                <a:gridCol w="1993899"/>
                <a:gridCol w="1993899"/>
                <a:gridCol w="1546424"/>
                <a:gridCol w="1546424"/>
                <a:gridCol w="1546424"/>
                <a:gridCol w="1546424"/>
                <a:gridCol w="1546424"/>
                <a:gridCol w="1546424"/>
                <a:gridCol w="1546424"/>
                <a:gridCol w="1546424"/>
              </a:tblGrid>
              <a:tr h="1134809">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维度</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对象</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fallback</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BERTScore_q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BERTScore_i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BERTScore_e</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TTR</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重复率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QC</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520"/>
                        </a:lnSpc>
                        <a:defRPr/>
                      </a:pPr>
                      <a:r>
                        <a:rPr lang="en-US" sz="1800" b="true">
                          <a:solidFill>
                            <a:srgbClr val="FFFFFF"/>
                          </a:solidFill>
                          <a:latin typeface="Inter Bold"/>
                          <a:ea typeface="Inter Bold"/>
                          <a:cs typeface="Inter Bold"/>
                          <a:sym typeface="Inter Bold"/>
                        </a:rPr>
                        <a:t>营销分</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r>
              <a:tr h="884767">
                <a:tc rowSpan="3">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生成文案VS原标题</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deepseek_chat</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0.6523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0.5933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0.6424</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0.9628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0.0164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0.5108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1.59</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80937">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生成文案VS原标题</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baseline_template_top1</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0.6718</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0.5832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0.7852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0.7920</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0.0156</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1.0000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3.92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r h="980937">
                <a:tc vMerge="true">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生成文案VS原标题</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1960"/>
                        </a:lnSpc>
                        <a:defRPr/>
                      </a:pPr>
                      <a:r>
                        <a:rPr lang="en-US" sz="1400" b="true">
                          <a:solidFill>
                            <a:srgbClr val="FFFFFF"/>
                          </a:solidFill>
                          <a:latin typeface="Inter Bold"/>
                          <a:ea typeface="Inter Bold"/>
                          <a:cs typeface="Inter Bold"/>
                          <a:sym typeface="Inter Bold"/>
                        </a:rPr>
                        <a:t>原标题 rank0 (top1)</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solidFill>
                      <a:srgbClr val="334155"/>
                    </a:solidFill>
                  </a:tcPr>
                </a:tc>
                <a:tc>
                  <a:txBody>
                    <a:bodyPr anchor="t" rtlCol="false"/>
                    <a:lstStyle/>
                    <a:p>
                      <a:pPr algn="ctr">
                        <a:lnSpc>
                          <a:spcPts val="2940"/>
                        </a:lnSpc>
                        <a:defRPr/>
                      </a:pPr>
                      <a:r>
                        <a:rPr lang="en-US" sz="2100">
                          <a:solidFill>
                            <a:srgbClr val="FFFFFF"/>
                          </a:solidFill>
                          <a:latin typeface="Inter"/>
                          <a:ea typeface="Inter"/>
                          <a:cs typeface="Inter"/>
                          <a:sym typeface="Inter"/>
                        </a:rPr>
                        <a:t>\</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0.6847</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Inter Bold"/>
                          <a:ea typeface="Inter Bold"/>
                          <a:cs typeface="Inter Bold"/>
                          <a:sym typeface="Inter Bold"/>
                        </a:rPr>
                        <a:t>0.6113</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0.8692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0.0182</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0.5632 </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Inter"/>
                          <a:ea typeface="Inter"/>
                          <a:cs typeface="Inter"/>
                          <a:sym typeface="Inter"/>
                        </a:rPr>
                        <a:t>1.34</a:t>
                      </a:r>
                      <a:endParaRPr lang="en-US" sz="1100"/>
                    </a:p>
                  </a:txBody>
                  <a:tcPr marL="190500" marR="190500" marT="190500" marB="190500" anchor="ctr">
                    <a:lnL cmpd="sng" algn="ctr" cap="flat" w="38100">
                      <a:solidFill>
                        <a:srgbClr val="94A3B8"/>
                      </a:solidFill>
                      <a:prstDash val="solid"/>
                      <a:round/>
                      <a:headEnd type="none" w="med" len="med"/>
                      <a:tailEnd type="none" w="med" len="med"/>
                    </a:lnL>
                    <a:lnR cmpd="sng" algn="ctr" cap="flat" w="38100">
                      <a:solidFill>
                        <a:srgbClr val="94A3B8"/>
                      </a:solidFill>
                      <a:prstDash val="solid"/>
                      <a:round/>
                      <a:headEnd type="none" w="med" len="med"/>
                      <a:tailEnd type="none" w="med" len="med"/>
                    </a:lnR>
                    <a:lnT cmpd="sng" algn="ctr" cap="flat" w="38100">
                      <a:solidFill>
                        <a:srgbClr val="94A3B8"/>
                      </a:solidFill>
                      <a:prstDash val="solid"/>
                      <a:round/>
                      <a:headEnd type="none" w="med" len="med"/>
                      <a:tailEnd type="none" w="med" len="med"/>
                    </a:lnT>
                    <a:lnB cmpd="sng" algn="ctr" cap="flat" w="38100">
                      <a:solidFill>
                        <a:srgbClr val="94A3B8"/>
                      </a:solidFill>
                      <a:prstDash val="solid"/>
                      <a:round/>
                      <a:headEnd type="none" w="med" len="med"/>
                      <a:tailEnd type="none" w="med" len="med"/>
                    </a:lnB>
                  </a:tcPr>
                </a:tc>
              </a:tr>
            </a:tbl>
          </a:graphicData>
        </a:graphic>
      </p:graphicFrame>
      <p:sp>
        <p:nvSpPr>
          <p:cNvPr name="TextBox 7" id="7"/>
          <p:cNvSpPr txBox="true"/>
          <p:nvPr/>
        </p:nvSpPr>
        <p:spPr>
          <a:xfrm rot="0">
            <a:off x="1071562" y="828675"/>
            <a:ext cx="3429000"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核心评测数据</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TextBox 6" id="6"/>
          <p:cNvSpPr txBox="true"/>
          <p:nvPr/>
        </p:nvSpPr>
        <p:spPr>
          <a:xfrm rot="0">
            <a:off x="1071562" y="828675"/>
            <a:ext cx="3429000"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评测结果分析</a:t>
            </a:r>
          </a:p>
        </p:txBody>
      </p:sp>
      <p:sp>
        <p:nvSpPr>
          <p:cNvPr name="TextBox 7" id="7"/>
          <p:cNvSpPr txBox="true"/>
          <p:nvPr/>
        </p:nvSpPr>
        <p:spPr>
          <a:xfrm rot="0">
            <a:off x="942975" y="2418351"/>
            <a:ext cx="7457777" cy="2091690"/>
          </a:xfrm>
          <a:prstGeom prst="rect">
            <a:avLst/>
          </a:prstGeom>
        </p:spPr>
        <p:txBody>
          <a:bodyPr anchor="t" rtlCol="false" tIns="0" lIns="0" bIns="0" rIns="0">
            <a:spAutoFit/>
          </a:bodyPr>
          <a:lstStyle/>
          <a:p>
            <a:pPr algn="l">
              <a:lnSpc>
                <a:spcPts val="3887"/>
              </a:lnSpc>
            </a:pPr>
            <a:r>
              <a:rPr lang="en-US" sz="2025" b="true">
                <a:solidFill>
                  <a:srgbClr val="94A3B8"/>
                </a:solidFill>
                <a:latin typeface="Inter Bold"/>
                <a:ea typeface="Inter Bold"/>
                <a:cs typeface="Inter Bold"/>
                <a:sym typeface="Inter Bold"/>
              </a:rPr>
              <a:t>1.词汇丰富度最高（TTR=0.9628）</a:t>
            </a:r>
          </a:p>
          <a:p>
            <a:pPr algn="l" marL="345439" indent="-172720" lvl="1">
              <a:lnSpc>
                <a:spcPts val="3071"/>
              </a:lnSpc>
              <a:buFont typeface="Arial"/>
              <a:buChar char="•"/>
            </a:pPr>
            <a:r>
              <a:rPr lang="en-US" sz="1599">
                <a:solidFill>
                  <a:srgbClr val="94A3B8"/>
                </a:solidFill>
                <a:latin typeface="Inter"/>
                <a:ea typeface="Inter"/>
                <a:cs typeface="Inter"/>
                <a:sym typeface="Inter"/>
              </a:rPr>
              <a:t>显著高于</a:t>
            </a:r>
            <a:r>
              <a:rPr lang="en-US" sz="1599" strike="noStrike" u="none">
                <a:solidFill>
                  <a:srgbClr val="94A3B8"/>
                </a:solidFill>
                <a:latin typeface="Inter"/>
                <a:ea typeface="Inter"/>
                <a:cs typeface="Inter"/>
                <a:sym typeface="Inter"/>
              </a:rPr>
              <a:t> </a:t>
            </a:r>
            <a:r>
              <a:rPr lang="en-US" sz="1599" strike="noStrike" u="none">
                <a:solidFill>
                  <a:srgbClr val="94A3B8"/>
                </a:solidFill>
                <a:latin typeface="Inter"/>
                <a:ea typeface="Inter"/>
                <a:cs typeface="Inter"/>
                <a:sym typeface="Inter"/>
              </a:rPr>
              <a:t>template（0.7920）和原标题（~0.87）</a:t>
            </a:r>
          </a:p>
          <a:p>
            <a:pPr algn="l" marL="345439" indent="-172720" lvl="1">
              <a:lnSpc>
                <a:spcPts val="3071"/>
              </a:lnSpc>
              <a:buFont typeface="Arial"/>
              <a:buChar char="•"/>
            </a:pPr>
            <a:r>
              <a:rPr lang="en-US" sz="1599" strike="noStrike" u="none">
                <a:solidFill>
                  <a:srgbClr val="94A3B8"/>
                </a:solidFill>
                <a:latin typeface="Inter"/>
                <a:ea typeface="Inter"/>
                <a:cs typeface="Inter"/>
                <a:sym typeface="Inter"/>
              </a:rPr>
              <a:t>说明</a:t>
            </a:r>
            <a:r>
              <a:rPr lang="en-US" sz="1599" strike="noStrike" u="none">
                <a:solidFill>
                  <a:srgbClr val="94A3B8"/>
                </a:solidFill>
                <a:latin typeface="Inter"/>
                <a:ea typeface="Inter"/>
                <a:cs typeface="Inter"/>
                <a:sym typeface="Inter"/>
              </a:rPr>
              <a:t> </a:t>
            </a:r>
            <a:r>
              <a:rPr lang="en-US" sz="1599" strike="noStrike" u="none">
                <a:solidFill>
                  <a:srgbClr val="94A3B8"/>
                </a:solidFill>
                <a:latin typeface="Inter"/>
                <a:ea typeface="Inter"/>
                <a:cs typeface="Inter"/>
                <a:sym typeface="Inter"/>
              </a:rPr>
              <a:t>DeepSe</a:t>
            </a:r>
            <a:r>
              <a:rPr lang="en-US" sz="1599" strike="noStrike" u="none">
                <a:solidFill>
                  <a:srgbClr val="94A3B8"/>
                </a:solidFill>
                <a:latin typeface="Inter"/>
                <a:ea typeface="Inter"/>
                <a:cs typeface="Inter"/>
                <a:sym typeface="Inter"/>
              </a:rPr>
              <a:t>e</a:t>
            </a:r>
            <a:r>
              <a:rPr lang="en-US" sz="1599" strike="noStrike" u="none">
                <a:solidFill>
                  <a:srgbClr val="94A3B8"/>
                </a:solidFill>
                <a:latin typeface="Inter"/>
                <a:ea typeface="Inter"/>
                <a:cs typeface="Inter"/>
                <a:sym typeface="Inter"/>
              </a:rPr>
              <a:t>k</a:t>
            </a:r>
            <a:r>
              <a:rPr lang="en-US" sz="1599" strike="noStrike" u="none">
                <a:solidFill>
                  <a:srgbClr val="94A3B8"/>
                </a:solidFill>
                <a:latin typeface="Inter"/>
                <a:ea typeface="Inter"/>
                <a:cs typeface="Inter"/>
                <a:sym typeface="Inter"/>
              </a:rPr>
              <a:t> </a:t>
            </a:r>
            <a:r>
              <a:rPr lang="en-US" sz="1599" strike="noStrike" u="none">
                <a:solidFill>
                  <a:srgbClr val="94A3B8"/>
                </a:solidFill>
                <a:latin typeface="Inter"/>
                <a:ea typeface="Inter"/>
                <a:cs typeface="Inter"/>
                <a:sym typeface="Inter"/>
              </a:rPr>
              <a:t>不会简单复述关键词，而是进行语义改写</a:t>
            </a:r>
          </a:p>
          <a:p>
            <a:pPr algn="l" marL="0" indent="0" lvl="0">
              <a:lnSpc>
                <a:spcPts val="3887"/>
              </a:lnSpc>
              <a:spcBef>
                <a:spcPct val="0"/>
              </a:spcBef>
            </a:pPr>
            <a:r>
              <a:rPr lang="en-US" b="true" sz="2025" strike="noStrike" u="none">
                <a:solidFill>
                  <a:srgbClr val="94A3B8"/>
                </a:solidFill>
                <a:latin typeface="Inter Bold"/>
                <a:ea typeface="Inter Bold"/>
                <a:cs typeface="Inter Bold"/>
                <a:sym typeface="Inter Bold"/>
              </a:rPr>
              <a:t>2</a:t>
            </a:r>
            <a:r>
              <a:rPr lang="en-US" b="true" sz="2025" strike="noStrike" u="none">
                <a:solidFill>
                  <a:srgbClr val="94A3B8"/>
                </a:solidFill>
                <a:latin typeface="Inter Bold"/>
                <a:ea typeface="Inter Bold"/>
                <a:cs typeface="Inter Bold"/>
                <a:sym typeface="Inter Bold"/>
              </a:rPr>
              <a:t>.</a:t>
            </a:r>
            <a:r>
              <a:rPr lang="en-US" b="true" sz="2025" strike="noStrike" u="none">
                <a:solidFill>
                  <a:srgbClr val="94A3B8"/>
                </a:solidFill>
                <a:latin typeface="Inter Bold"/>
                <a:ea typeface="Inter Bold"/>
                <a:cs typeface="Inter Bold"/>
                <a:sym typeface="Inter Bold"/>
              </a:rPr>
              <a:t>零</a:t>
            </a:r>
            <a:r>
              <a:rPr lang="en-US" b="true" sz="2025" strike="noStrike" u="none">
                <a:solidFill>
                  <a:srgbClr val="94A3B8"/>
                </a:solidFill>
                <a:latin typeface="Inter Bold"/>
                <a:ea typeface="Inter Bold"/>
                <a:cs typeface="Inter Bold"/>
                <a:sym typeface="Inter Bold"/>
              </a:rPr>
              <a:t> </a:t>
            </a:r>
            <a:r>
              <a:rPr lang="en-US" b="true" sz="2025" strike="noStrike" u="none">
                <a:solidFill>
                  <a:srgbClr val="94A3B8"/>
                </a:solidFill>
                <a:latin typeface="Inter Bold"/>
                <a:ea typeface="Inter Bold"/>
                <a:cs typeface="Inter Bold"/>
                <a:sym typeface="Inter Bold"/>
              </a:rPr>
              <a:t>fall</a:t>
            </a:r>
            <a:r>
              <a:rPr lang="en-US" b="true" sz="2025" strike="noStrike" u="none">
                <a:solidFill>
                  <a:srgbClr val="94A3B8"/>
                </a:solidFill>
                <a:latin typeface="Inter Bold"/>
                <a:ea typeface="Inter Bold"/>
                <a:cs typeface="Inter Bold"/>
                <a:sym typeface="Inter Bold"/>
              </a:rPr>
              <a:t>bac</a:t>
            </a:r>
            <a:r>
              <a:rPr lang="en-US" b="true" sz="2025" strike="noStrike" u="none">
                <a:solidFill>
                  <a:srgbClr val="94A3B8"/>
                </a:solidFill>
                <a:latin typeface="Inter Bold"/>
                <a:ea typeface="Inter Bold"/>
                <a:cs typeface="Inter Bold"/>
                <a:sym typeface="Inter Bold"/>
              </a:rPr>
              <a:t>k，系统最稳定</a:t>
            </a:r>
          </a:p>
          <a:p>
            <a:pPr algn="l" marL="345439" indent="-172720" lvl="1">
              <a:lnSpc>
                <a:spcPts val="3071"/>
              </a:lnSpc>
              <a:buFont typeface="Arial"/>
              <a:buChar char="•"/>
            </a:pPr>
            <a:r>
              <a:rPr lang="en-US" sz="1599" strike="noStrike" u="none">
                <a:solidFill>
                  <a:srgbClr val="94A3B8"/>
                </a:solidFill>
                <a:latin typeface="Inter"/>
                <a:ea typeface="Inter"/>
                <a:cs typeface="Inter"/>
                <a:sym typeface="Inter"/>
              </a:rPr>
              <a:t>相比 baseline_summary（35.83% fallback）和 local_fake（100% fallback）</a:t>
            </a:r>
          </a:p>
        </p:txBody>
      </p:sp>
      <p:sp>
        <p:nvSpPr>
          <p:cNvPr name="TextBox 8" id="8"/>
          <p:cNvSpPr txBox="true"/>
          <p:nvPr/>
        </p:nvSpPr>
        <p:spPr>
          <a:xfrm rot="0">
            <a:off x="857250" y="1837326"/>
            <a:ext cx="8458696" cy="419100"/>
          </a:xfrm>
          <a:prstGeom prst="rect">
            <a:avLst/>
          </a:prstGeom>
        </p:spPr>
        <p:txBody>
          <a:bodyPr anchor="t" rtlCol="false" tIns="0" lIns="0" bIns="0" rIns="0">
            <a:spAutoFit/>
          </a:bodyPr>
          <a:lstStyle/>
          <a:p>
            <a:pPr algn="ctr">
              <a:lnSpc>
                <a:spcPts val="3240"/>
              </a:lnSpc>
            </a:pPr>
            <a:r>
              <a:rPr lang="en-US" b="true" sz="2700">
                <a:solidFill>
                  <a:srgbClr val="F8FAFC"/>
                </a:solidFill>
                <a:latin typeface="Inter Bold"/>
                <a:ea typeface="Inter Bold"/>
                <a:cs typeface="Inter Bold"/>
                <a:sym typeface="Inter Bold"/>
              </a:rPr>
              <a:t>最新版本系统（deepseek_chat）生成文案的核心优势</a:t>
            </a:r>
          </a:p>
        </p:txBody>
      </p:sp>
      <p:sp>
        <p:nvSpPr>
          <p:cNvPr name="TextBox 9" id="9"/>
          <p:cNvSpPr txBox="true"/>
          <p:nvPr/>
        </p:nvSpPr>
        <p:spPr>
          <a:xfrm rot="0">
            <a:off x="900112" y="5133975"/>
            <a:ext cx="8458696" cy="419100"/>
          </a:xfrm>
          <a:prstGeom prst="rect">
            <a:avLst/>
          </a:prstGeom>
        </p:spPr>
        <p:txBody>
          <a:bodyPr anchor="t" rtlCol="false" tIns="0" lIns="0" bIns="0" rIns="0">
            <a:spAutoFit/>
          </a:bodyPr>
          <a:lstStyle/>
          <a:p>
            <a:pPr algn="l">
              <a:lnSpc>
                <a:spcPts val="3240"/>
              </a:lnSpc>
            </a:pPr>
            <a:r>
              <a:rPr lang="en-US" sz="2700" b="true">
                <a:solidFill>
                  <a:srgbClr val="F8FAFC"/>
                </a:solidFill>
                <a:latin typeface="Inter Bold"/>
                <a:ea typeface="Inter Bold"/>
                <a:cs typeface="Inter Bold"/>
                <a:sym typeface="Inter Bold"/>
              </a:rPr>
              <a:t>相对不足及分析</a:t>
            </a:r>
          </a:p>
        </p:txBody>
      </p:sp>
      <p:sp>
        <p:nvSpPr>
          <p:cNvPr name="TextBox 10" id="10"/>
          <p:cNvSpPr txBox="true"/>
          <p:nvPr/>
        </p:nvSpPr>
        <p:spPr>
          <a:xfrm rot="0">
            <a:off x="900112" y="5715000"/>
            <a:ext cx="9484519" cy="3234690"/>
          </a:xfrm>
          <a:prstGeom prst="rect">
            <a:avLst/>
          </a:prstGeom>
        </p:spPr>
        <p:txBody>
          <a:bodyPr anchor="t" rtlCol="false" tIns="0" lIns="0" bIns="0" rIns="0">
            <a:spAutoFit/>
          </a:bodyPr>
          <a:lstStyle/>
          <a:p>
            <a:pPr algn="l">
              <a:lnSpc>
                <a:spcPts val="3887"/>
              </a:lnSpc>
            </a:pPr>
            <a:r>
              <a:rPr lang="en-US" sz="2025" b="true">
                <a:solidFill>
                  <a:srgbClr val="94A3B8"/>
                </a:solidFill>
                <a:latin typeface="Inter Bold"/>
                <a:ea typeface="Inter Bold"/>
                <a:cs typeface="Inter Bold"/>
                <a:sym typeface="Inter Bold"/>
              </a:rPr>
              <a:t>1.BERTScore_query 低于 template 和原标题</a:t>
            </a:r>
          </a:p>
          <a:p>
            <a:pPr algn="l" marL="345439" indent="-172720" lvl="1">
              <a:lnSpc>
                <a:spcPts val="3071"/>
              </a:lnSpc>
              <a:buFont typeface="Arial"/>
              <a:buChar char="•"/>
            </a:pPr>
            <a:r>
              <a:rPr lang="en-US" sz="1599">
                <a:solidFill>
                  <a:srgbClr val="94A3B8"/>
                </a:solidFill>
                <a:latin typeface="Inter"/>
                <a:ea typeface="Inter"/>
                <a:cs typeface="Inter"/>
                <a:sym typeface="Inter"/>
              </a:rPr>
              <a:t>DeepSeek: 0.6523</a:t>
            </a:r>
            <a:r>
              <a:rPr lang="en-US" sz="1599" strike="noStrike" u="none">
                <a:solidFill>
                  <a:srgbClr val="94A3B8"/>
                </a:solidFill>
                <a:latin typeface="Inter"/>
                <a:ea typeface="Inter"/>
                <a:cs typeface="Inter"/>
                <a:sym typeface="Inter"/>
              </a:rPr>
              <a:t> vs Template</a:t>
            </a:r>
            <a:r>
              <a:rPr lang="en-US" sz="1599" strike="noStrike" u="none">
                <a:solidFill>
                  <a:srgbClr val="94A3B8"/>
                </a:solidFill>
                <a:latin typeface="Inter"/>
                <a:ea typeface="Inter"/>
                <a:cs typeface="Inter"/>
                <a:sym typeface="Inter"/>
              </a:rPr>
              <a:t>: </a:t>
            </a:r>
            <a:r>
              <a:rPr lang="en-US" sz="1599" strike="noStrike" u="none">
                <a:solidFill>
                  <a:srgbClr val="94A3B8"/>
                </a:solidFill>
                <a:latin typeface="Inter"/>
                <a:ea typeface="Inter"/>
                <a:cs typeface="Inter"/>
                <a:sym typeface="Inter"/>
              </a:rPr>
              <a:t>0.</a:t>
            </a:r>
            <a:r>
              <a:rPr lang="en-US" sz="1599" strike="noStrike" u="none">
                <a:solidFill>
                  <a:srgbClr val="94A3B8"/>
                </a:solidFill>
                <a:latin typeface="Inter"/>
                <a:ea typeface="Inter"/>
                <a:cs typeface="Inter"/>
                <a:sym typeface="Inter"/>
              </a:rPr>
              <a:t>6</a:t>
            </a:r>
            <a:r>
              <a:rPr lang="en-US" sz="1599" strike="noStrike" u="none">
                <a:solidFill>
                  <a:srgbClr val="94A3B8"/>
                </a:solidFill>
                <a:latin typeface="Inter"/>
                <a:ea typeface="Inter"/>
                <a:cs typeface="Inter"/>
                <a:sym typeface="Inter"/>
              </a:rPr>
              <a:t>7</a:t>
            </a:r>
            <a:r>
              <a:rPr lang="en-US" sz="1599" strike="noStrike" u="none">
                <a:solidFill>
                  <a:srgbClr val="94A3B8"/>
                </a:solidFill>
                <a:latin typeface="Inter"/>
                <a:ea typeface="Inter"/>
                <a:cs typeface="Inter"/>
                <a:sym typeface="Inter"/>
              </a:rPr>
              <a:t>18 vs </a:t>
            </a:r>
            <a:r>
              <a:rPr lang="en-US" sz="1599" strike="noStrike" u="none">
                <a:solidFill>
                  <a:srgbClr val="94A3B8"/>
                </a:solidFill>
                <a:latin typeface="Inter"/>
                <a:ea typeface="Inter"/>
                <a:cs typeface="Inter"/>
                <a:sym typeface="Inter"/>
              </a:rPr>
              <a:t>原标题</a:t>
            </a:r>
            <a:r>
              <a:rPr lang="en-US" sz="1599" strike="noStrike" u="none">
                <a:solidFill>
                  <a:srgbClr val="94A3B8"/>
                </a:solidFill>
                <a:latin typeface="Inter"/>
                <a:ea typeface="Inter"/>
                <a:cs typeface="Inter"/>
                <a:sym typeface="Inter"/>
              </a:rPr>
              <a:t>: </a:t>
            </a:r>
            <a:r>
              <a:rPr lang="en-US" sz="1599" strike="noStrike" u="none">
                <a:solidFill>
                  <a:srgbClr val="94A3B8"/>
                </a:solidFill>
                <a:latin typeface="Inter"/>
                <a:ea typeface="Inter"/>
                <a:cs typeface="Inter"/>
                <a:sym typeface="Inter"/>
              </a:rPr>
              <a:t>0.</a:t>
            </a:r>
            <a:r>
              <a:rPr lang="en-US" sz="1599" strike="noStrike" u="none">
                <a:solidFill>
                  <a:srgbClr val="94A3B8"/>
                </a:solidFill>
                <a:latin typeface="Inter"/>
                <a:ea typeface="Inter"/>
                <a:cs typeface="Inter"/>
                <a:sym typeface="Inter"/>
              </a:rPr>
              <a:t>6</a:t>
            </a:r>
            <a:r>
              <a:rPr lang="en-US" sz="1599" strike="noStrike" u="none">
                <a:solidFill>
                  <a:srgbClr val="94A3B8"/>
                </a:solidFill>
                <a:latin typeface="Inter"/>
                <a:ea typeface="Inter"/>
                <a:cs typeface="Inter"/>
                <a:sym typeface="Inter"/>
              </a:rPr>
              <a:t>8</a:t>
            </a:r>
            <a:r>
              <a:rPr lang="en-US" sz="1599" strike="noStrike" u="none">
                <a:solidFill>
                  <a:srgbClr val="94A3B8"/>
                </a:solidFill>
                <a:latin typeface="Inter"/>
                <a:ea typeface="Inter"/>
                <a:cs typeface="Inter"/>
                <a:sym typeface="Inter"/>
              </a:rPr>
              <a:t>4</a:t>
            </a:r>
            <a:r>
              <a:rPr lang="en-US" sz="1599" strike="noStrike" u="none">
                <a:solidFill>
                  <a:srgbClr val="94A3B8"/>
                </a:solidFill>
                <a:latin typeface="Inter"/>
                <a:ea typeface="Inter"/>
                <a:cs typeface="Inter"/>
                <a:sym typeface="Inter"/>
              </a:rPr>
              <a:t>7</a:t>
            </a:r>
          </a:p>
          <a:p>
            <a:pPr algn="l" marL="345439" indent="-172720" lvl="1">
              <a:lnSpc>
                <a:spcPts val="3071"/>
              </a:lnSpc>
              <a:buFont typeface="Arial"/>
              <a:buChar char="•"/>
            </a:pPr>
            <a:r>
              <a:rPr lang="en-US" sz="1599" strike="noStrike" u="none">
                <a:solidFill>
                  <a:srgbClr val="94A3B8"/>
                </a:solidFill>
                <a:latin typeface="Inter"/>
                <a:ea typeface="Inter"/>
                <a:cs typeface="Inter"/>
                <a:sym typeface="Inter"/>
              </a:rPr>
              <a:t>原因是</a:t>
            </a:r>
            <a:r>
              <a:rPr lang="en-US" sz="1599" strike="noStrike" u="none">
                <a:solidFill>
                  <a:srgbClr val="94A3B8"/>
                </a:solidFill>
                <a:latin typeface="Inter"/>
                <a:ea typeface="Inter"/>
                <a:cs typeface="Inter"/>
                <a:sym typeface="Inter"/>
              </a:rPr>
              <a:t> DeepSeek 进行</a:t>
            </a:r>
            <a:r>
              <a:rPr lang="en-US" sz="1599" strike="noStrike" u="none">
                <a:solidFill>
                  <a:srgbClr val="94A3B8"/>
                </a:solidFill>
                <a:latin typeface="Inter"/>
                <a:ea typeface="Inter"/>
                <a:cs typeface="Inter"/>
                <a:sym typeface="Inter"/>
              </a:rPr>
              <a:t>了</a:t>
            </a:r>
            <a:r>
              <a:rPr lang="en-US" sz="1599" strike="noStrike" u="none">
                <a:solidFill>
                  <a:srgbClr val="94A3B8"/>
                </a:solidFill>
                <a:latin typeface="Inter"/>
                <a:ea typeface="Inter"/>
                <a:cs typeface="Inter"/>
                <a:sym typeface="Inter"/>
              </a:rPr>
              <a:t>语义改写</a:t>
            </a:r>
            <a:r>
              <a:rPr lang="en-US" sz="1599" strike="noStrike" u="none">
                <a:solidFill>
                  <a:srgbClr val="94A3B8"/>
                </a:solidFill>
                <a:latin typeface="Inter"/>
                <a:ea typeface="Inter"/>
                <a:cs typeface="Inter"/>
                <a:sym typeface="Inter"/>
              </a:rPr>
              <a:t>，不直接包含 query 关键词。例如 query="头绳发圈大肠"，DeepSeek </a:t>
            </a:r>
            <a:r>
              <a:rPr lang="en-US" sz="1599" strike="noStrike" u="none">
                <a:solidFill>
                  <a:srgbClr val="94A3B8"/>
                </a:solidFill>
                <a:latin typeface="Inter"/>
                <a:ea typeface="Inter"/>
                <a:cs typeface="Inter"/>
                <a:sym typeface="Inter"/>
              </a:rPr>
              <a:t>文案是"学生党碎花大肠圈合集，日常百搭不扯发"，没有直接出现"头绳""发圈"</a:t>
            </a:r>
          </a:p>
          <a:p>
            <a:pPr algn="l" marL="0" indent="0" lvl="0">
              <a:lnSpc>
                <a:spcPts val="3887"/>
              </a:lnSpc>
              <a:spcBef>
                <a:spcPct val="0"/>
              </a:spcBef>
            </a:pPr>
            <a:r>
              <a:rPr lang="en-US" b="true" sz="2025" strike="noStrike" u="none">
                <a:solidFill>
                  <a:srgbClr val="94A3B8"/>
                </a:solidFill>
                <a:latin typeface="Inter Bold"/>
                <a:ea typeface="Inter Bold"/>
                <a:cs typeface="Inter Bold"/>
                <a:sym typeface="Inter Bold"/>
              </a:rPr>
              <a:t>2.</a:t>
            </a:r>
            <a:r>
              <a:rPr lang="en-US" b="true" sz="2025" strike="noStrike" u="none">
                <a:solidFill>
                  <a:srgbClr val="94A3B8"/>
                </a:solidFill>
                <a:latin typeface="Inter Bold"/>
                <a:ea typeface="Inter Bold"/>
                <a:cs typeface="Inter Bold"/>
                <a:sym typeface="Inter Bold"/>
              </a:rPr>
              <a:t>BERTScore_evidence 低于 template</a:t>
            </a:r>
          </a:p>
          <a:p>
            <a:pPr algn="l" marL="345439" indent="-172720" lvl="1">
              <a:lnSpc>
                <a:spcPts val="3071"/>
              </a:lnSpc>
              <a:buFont typeface="Arial"/>
              <a:buChar char="•"/>
            </a:pPr>
            <a:r>
              <a:rPr lang="en-US" sz="1599" strike="noStrike" u="none">
                <a:solidFill>
                  <a:srgbClr val="94A3B8"/>
                </a:solidFill>
                <a:latin typeface="Inter"/>
                <a:ea typeface="Inter"/>
                <a:cs typeface="Inter"/>
                <a:sym typeface="Inter"/>
              </a:rPr>
              <a:t>DeepSeek: 0.6424 vs Template</a:t>
            </a:r>
            <a:r>
              <a:rPr lang="en-US" sz="1599" strike="noStrike" u="none">
                <a:solidFill>
                  <a:srgbClr val="94A3B8"/>
                </a:solidFill>
                <a:latin typeface="Inter"/>
                <a:ea typeface="Inter"/>
                <a:cs typeface="Inter"/>
                <a:sym typeface="Inter"/>
              </a:rPr>
              <a:t>:</a:t>
            </a:r>
            <a:r>
              <a:rPr lang="en-US" sz="1599" strike="noStrike" u="none">
                <a:solidFill>
                  <a:srgbClr val="94A3B8"/>
                </a:solidFill>
                <a:latin typeface="Inter"/>
                <a:ea typeface="Inter"/>
                <a:cs typeface="Inter"/>
                <a:sym typeface="Inter"/>
              </a:rPr>
              <a:t> 0.7</a:t>
            </a:r>
            <a:r>
              <a:rPr lang="en-US" sz="1599" strike="noStrike" u="none">
                <a:solidFill>
                  <a:srgbClr val="94A3B8"/>
                </a:solidFill>
                <a:latin typeface="Inter"/>
                <a:ea typeface="Inter"/>
                <a:cs typeface="Inter"/>
                <a:sym typeface="Inter"/>
              </a:rPr>
              <a:t>85</a:t>
            </a:r>
            <a:r>
              <a:rPr lang="en-US" sz="1599" strike="noStrike" u="none">
                <a:solidFill>
                  <a:srgbClr val="94A3B8"/>
                </a:solidFill>
                <a:latin typeface="Inter"/>
                <a:ea typeface="Inter"/>
                <a:cs typeface="Inter"/>
                <a:sym typeface="Inter"/>
              </a:rPr>
              <a:t>2</a:t>
            </a:r>
          </a:p>
          <a:p>
            <a:pPr algn="l" marL="345439" indent="-172720" lvl="1">
              <a:lnSpc>
                <a:spcPts val="3071"/>
              </a:lnSpc>
              <a:buFont typeface="Arial"/>
              <a:buChar char="•"/>
            </a:pPr>
            <a:r>
              <a:rPr lang="en-US" sz="1599" strike="noStrike" u="none">
                <a:solidFill>
                  <a:srgbClr val="94A3B8"/>
                </a:solidFill>
                <a:latin typeface="Inter"/>
                <a:ea typeface="Inter"/>
                <a:cs typeface="Inter"/>
                <a:sym typeface="Inter"/>
              </a:rPr>
              <a:t>Template</a:t>
            </a:r>
            <a:r>
              <a:rPr lang="en-US" sz="1599" strike="noStrike" u="none">
                <a:solidFill>
                  <a:srgbClr val="94A3B8"/>
                </a:solidFill>
                <a:latin typeface="Inter"/>
                <a:ea typeface="Inter"/>
                <a:cs typeface="Inter"/>
                <a:sym typeface="Inter"/>
              </a:rPr>
              <a:t> 直接引用商品标题</a:t>
            </a:r>
            <a:r>
              <a:rPr lang="en-US" sz="1599" strike="noStrike" u="none">
                <a:solidFill>
                  <a:srgbClr val="94A3B8"/>
                </a:solidFill>
                <a:latin typeface="Inter"/>
                <a:ea typeface="Inter"/>
                <a:cs typeface="Inter"/>
                <a:sym typeface="Inter"/>
              </a:rPr>
              <a:t>，天然与 evidence 高度匹配，</a:t>
            </a:r>
            <a:r>
              <a:rPr lang="en-US" sz="1599" strike="noStrike" u="none">
                <a:solidFill>
                  <a:srgbClr val="94A3B8"/>
                </a:solidFill>
                <a:latin typeface="Inter"/>
                <a:ea typeface="Inter"/>
                <a:cs typeface="Inter"/>
                <a:sym typeface="Inter"/>
              </a:rPr>
              <a:t>DeepSeek 的</a:t>
            </a:r>
            <a:r>
              <a:rPr lang="en-US" sz="1599" strike="noStrike" u="none">
                <a:solidFill>
                  <a:srgbClr val="94A3B8"/>
                </a:solidFill>
                <a:latin typeface="Inter"/>
                <a:ea typeface="Inter"/>
                <a:cs typeface="Inter"/>
                <a:sym typeface="Inter"/>
              </a:rPr>
              <a:t>改写虽然更自然，但与原始证据</a:t>
            </a:r>
            <a:r>
              <a:rPr lang="en-US" sz="1599" strike="noStrike" u="none">
                <a:solidFill>
                  <a:srgbClr val="94A3B8"/>
                </a:solidFill>
                <a:latin typeface="Inter"/>
                <a:ea typeface="Inter"/>
                <a:cs typeface="Inter"/>
                <a:sym typeface="Inter"/>
              </a:rPr>
              <a:t>的语</a:t>
            </a:r>
            <a:r>
              <a:rPr lang="en-US" sz="1599" strike="noStrike" u="none">
                <a:solidFill>
                  <a:srgbClr val="94A3B8"/>
                </a:solidFill>
                <a:latin typeface="Inter"/>
                <a:ea typeface="Inter"/>
                <a:cs typeface="Inter"/>
                <a:sym typeface="Inter"/>
              </a:rPr>
              <a:t>义距离增大</a:t>
            </a:r>
          </a:p>
        </p:txBody>
      </p:sp>
      <p:sp>
        <p:nvSpPr>
          <p:cNvPr name="TextBox 11" id="11"/>
          <p:cNvSpPr txBox="true"/>
          <p:nvPr/>
        </p:nvSpPr>
        <p:spPr>
          <a:xfrm rot="0">
            <a:off x="9959763" y="1837326"/>
            <a:ext cx="8458696" cy="419100"/>
          </a:xfrm>
          <a:prstGeom prst="rect">
            <a:avLst/>
          </a:prstGeom>
        </p:spPr>
        <p:txBody>
          <a:bodyPr anchor="t" rtlCol="false" tIns="0" lIns="0" bIns="0" rIns="0">
            <a:spAutoFit/>
          </a:bodyPr>
          <a:lstStyle/>
          <a:p>
            <a:pPr algn="ctr">
              <a:lnSpc>
                <a:spcPts val="3240"/>
              </a:lnSpc>
            </a:pPr>
            <a:r>
              <a:rPr lang="en-US" b="true" sz="2700">
                <a:solidFill>
                  <a:srgbClr val="F8FAFC"/>
                </a:solidFill>
                <a:latin typeface="Inter Bold"/>
                <a:ea typeface="Inter Bold"/>
                <a:cs typeface="Inter Bold"/>
                <a:sym typeface="Inter Bold"/>
              </a:rPr>
              <a:t>原标题 vs DeepSeek 文案的本质差异</a:t>
            </a:r>
          </a:p>
        </p:txBody>
      </p:sp>
      <p:grpSp>
        <p:nvGrpSpPr>
          <p:cNvPr name="Group 12" id="12"/>
          <p:cNvGrpSpPr/>
          <p:nvPr/>
        </p:nvGrpSpPr>
        <p:grpSpPr>
          <a:xfrm rot="0">
            <a:off x="11299279" y="2748331"/>
            <a:ext cx="5779665" cy="3523420"/>
            <a:chOff x="0" y="0"/>
            <a:chExt cx="7706221" cy="4697894"/>
          </a:xfrm>
        </p:grpSpPr>
        <p:sp>
          <p:nvSpPr>
            <p:cNvPr name="Freeform 13" id="13"/>
            <p:cNvSpPr/>
            <p:nvPr/>
          </p:nvSpPr>
          <p:spPr>
            <a:xfrm flipH="false" flipV="false" rot="0">
              <a:off x="0" y="0"/>
              <a:ext cx="7706221" cy="2530439"/>
            </a:xfrm>
            <a:custGeom>
              <a:avLst/>
              <a:gdLst/>
              <a:ahLst/>
              <a:cxnLst/>
              <a:rect r="r" b="b" t="t" l="l"/>
              <a:pathLst>
                <a:path h="2530439" w="7706221">
                  <a:moveTo>
                    <a:pt x="0" y="0"/>
                  </a:moveTo>
                  <a:lnTo>
                    <a:pt x="7706221" y="0"/>
                  </a:lnTo>
                  <a:lnTo>
                    <a:pt x="7706221" y="2530439"/>
                  </a:lnTo>
                  <a:lnTo>
                    <a:pt x="0" y="2530439"/>
                  </a:lnTo>
                  <a:lnTo>
                    <a:pt x="0" y="0"/>
                  </a:lnTo>
                  <a:close/>
                </a:path>
              </a:pathLst>
            </a:custGeom>
            <a:blipFill>
              <a:blip r:embed="rId4"/>
              <a:stretch>
                <a:fillRect l="0" t="0" r="0" b="-110902"/>
              </a:stretch>
            </a:blipFill>
          </p:spPr>
        </p:sp>
        <p:sp>
          <p:nvSpPr>
            <p:cNvPr name="Freeform 14" id="14"/>
            <p:cNvSpPr/>
            <p:nvPr/>
          </p:nvSpPr>
          <p:spPr>
            <a:xfrm flipH="false" flipV="false" rot="0">
              <a:off x="0" y="2530439"/>
              <a:ext cx="7706221" cy="2167455"/>
            </a:xfrm>
            <a:custGeom>
              <a:avLst/>
              <a:gdLst/>
              <a:ahLst/>
              <a:cxnLst/>
              <a:rect r="r" b="b" t="t" l="l"/>
              <a:pathLst>
                <a:path h="2167455" w="7706221">
                  <a:moveTo>
                    <a:pt x="0" y="0"/>
                  </a:moveTo>
                  <a:lnTo>
                    <a:pt x="7706221" y="0"/>
                  </a:lnTo>
                  <a:lnTo>
                    <a:pt x="7706221" y="2167455"/>
                  </a:lnTo>
                  <a:lnTo>
                    <a:pt x="0" y="2167455"/>
                  </a:lnTo>
                  <a:lnTo>
                    <a:pt x="0" y="0"/>
                  </a:lnTo>
                  <a:close/>
                </a:path>
              </a:pathLst>
            </a:custGeom>
            <a:blipFill>
              <a:blip r:embed="rId4"/>
              <a:stretch>
                <a:fillRect l="0" t="-146221" r="0" b="0"/>
              </a:stretch>
            </a:blipFill>
          </p:spPr>
        </p:sp>
      </p:grpSp>
      <p:sp>
        <p:nvSpPr>
          <p:cNvPr name="TextBox 15" id="15"/>
          <p:cNvSpPr txBox="true"/>
          <p:nvPr/>
        </p:nvSpPr>
        <p:spPr>
          <a:xfrm rot="0">
            <a:off x="11299279" y="6757526"/>
            <a:ext cx="5779665" cy="1228725"/>
          </a:xfrm>
          <a:prstGeom prst="rect">
            <a:avLst/>
          </a:prstGeom>
        </p:spPr>
        <p:txBody>
          <a:bodyPr anchor="t" rtlCol="false" tIns="0" lIns="0" bIns="0" rIns="0">
            <a:spAutoFit/>
          </a:bodyPr>
          <a:lstStyle/>
          <a:p>
            <a:pPr algn="l">
              <a:lnSpc>
                <a:spcPts val="2436"/>
              </a:lnSpc>
              <a:spcBef>
                <a:spcPct val="0"/>
              </a:spcBef>
            </a:pPr>
            <a:r>
              <a:rPr lang="en-US" b="true" sz="2030">
                <a:solidFill>
                  <a:srgbClr val="94A3B8"/>
                </a:solidFill>
                <a:latin typeface="Arimo Bold"/>
                <a:ea typeface="Arimo Bold"/>
                <a:cs typeface="Arimo Bold"/>
                <a:sym typeface="Arimo Bold"/>
              </a:rPr>
              <a:t>原标题在"搜索相关性"上占优，DeepSeek 文案在"广告吸引力"和"语言质量"上占优。两者并非替代关系，而是互补——原标题服务于搜索系统，广告文案服务于用户决策。</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85725" cy="571500"/>
            <a:chOff x="0" y="0"/>
            <a:chExt cx="114300" cy="762000"/>
          </a:xfrm>
        </p:grpSpPr>
        <p:sp>
          <p:nvSpPr>
            <p:cNvPr name="Freeform 5" id="5"/>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
        <p:nvSpPr>
          <p:cNvPr name="Freeform 6" id="6"/>
          <p:cNvSpPr/>
          <p:nvPr/>
        </p:nvSpPr>
        <p:spPr>
          <a:xfrm flipH="false" flipV="false" rot="0">
            <a:off x="1028700" y="3590544"/>
            <a:ext cx="13024468" cy="6577356"/>
          </a:xfrm>
          <a:custGeom>
            <a:avLst/>
            <a:gdLst/>
            <a:ahLst/>
            <a:cxnLst/>
            <a:rect r="r" b="b" t="t" l="l"/>
            <a:pathLst>
              <a:path h="6577356" w="13024468">
                <a:moveTo>
                  <a:pt x="0" y="0"/>
                </a:moveTo>
                <a:lnTo>
                  <a:pt x="13024468" y="0"/>
                </a:lnTo>
                <a:lnTo>
                  <a:pt x="13024468" y="6577356"/>
                </a:lnTo>
                <a:lnTo>
                  <a:pt x="0" y="6577356"/>
                </a:lnTo>
                <a:lnTo>
                  <a:pt x="0" y="0"/>
                </a:lnTo>
                <a:close/>
              </a:path>
            </a:pathLst>
          </a:custGeom>
          <a:blipFill>
            <a:blip r:embed="rId4"/>
            <a:stretch>
              <a:fillRect l="0" t="0" r="0" b="0"/>
            </a:stretch>
          </a:blipFill>
        </p:spPr>
      </p:sp>
      <p:sp>
        <p:nvSpPr>
          <p:cNvPr name="TextBox 7" id="7"/>
          <p:cNvSpPr txBox="true"/>
          <p:nvPr/>
        </p:nvSpPr>
        <p:spPr>
          <a:xfrm rot="0">
            <a:off x="1071562" y="828675"/>
            <a:ext cx="2286000" cy="7143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前端展示</a:t>
            </a:r>
          </a:p>
        </p:txBody>
      </p:sp>
      <p:sp>
        <p:nvSpPr>
          <p:cNvPr name="TextBox 8" id="8"/>
          <p:cNvSpPr txBox="true"/>
          <p:nvPr/>
        </p:nvSpPr>
        <p:spPr>
          <a:xfrm rot="0">
            <a:off x="1028700" y="1546860"/>
            <a:ext cx="16093232" cy="1900809"/>
          </a:xfrm>
          <a:prstGeom prst="rect">
            <a:avLst/>
          </a:prstGeom>
        </p:spPr>
        <p:txBody>
          <a:bodyPr anchor="t" rtlCol="false" tIns="0" lIns="0" bIns="0" rIns="0">
            <a:spAutoFit/>
          </a:bodyPr>
          <a:lstStyle/>
          <a:p>
            <a:pPr algn="l" marL="0" indent="0" lvl="0">
              <a:lnSpc>
                <a:spcPts val="3887"/>
              </a:lnSpc>
              <a:spcBef>
                <a:spcPct val="0"/>
              </a:spcBef>
            </a:pPr>
            <a:r>
              <a:rPr lang="en-US" b="true" sz="2025">
                <a:solidFill>
                  <a:srgbClr val="94A3B8"/>
                </a:solidFill>
                <a:latin typeface="Inter Bold"/>
                <a:ea typeface="Inter Bold"/>
                <a:cs typeface="Inter Bold"/>
                <a:sym typeface="Inter Bold"/>
              </a:rPr>
              <a:t>实</a:t>
            </a:r>
            <a:r>
              <a:rPr lang="en-US" b="true" sz="2025" strike="noStrike" u="none">
                <a:solidFill>
                  <a:srgbClr val="94A3B8"/>
                </a:solidFill>
                <a:latin typeface="Inter Bold"/>
                <a:ea typeface="Inter Bold"/>
                <a:cs typeface="Inter Bold"/>
                <a:sym typeface="Inter Bold"/>
              </a:rPr>
              <a:t>时调用 V5 LLM 广告生成主链路（query → 意图增强 → 证据召回 → 候选生成/排序 → 最终文案），把每一步的中间产物可视化，便于调试。</a:t>
            </a:r>
          </a:p>
          <a:p>
            <a:pPr algn="l" marL="0" indent="0" lvl="0">
              <a:lnSpc>
                <a:spcPts val="3887"/>
              </a:lnSpc>
              <a:spcBef>
                <a:spcPct val="0"/>
              </a:spcBef>
            </a:pPr>
            <a:r>
              <a:rPr lang="en-US" b="true" sz="2025" strike="noStrike" u="none">
                <a:solidFill>
                  <a:srgbClr val="94A3B8"/>
                </a:solidFill>
                <a:latin typeface="Inter Bold"/>
                <a:ea typeface="Inter Bold"/>
                <a:cs typeface="Inter Bold"/>
                <a:sym typeface="Inter Bold"/>
              </a:rPr>
              <a:t>离线浏览历史 JSONL 输出，快速翻看不同 query 的 V5 跑批结果。</a:t>
            </a:r>
          </a:p>
          <a:p>
            <a:pPr algn="l" marL="0" indent="0" lvl="0">
              <a:lnSpc>
                <a:spcPts val="3887"/>
              </a:lnSpc>
              <a:spcBef>
                <a:spcPct val="0"/>
              </a:spcBef>
            </a:pPr>
            <a:r>
              <a:rPr lang="en-US" b="true" sz="2025" strike="noStrike" u="none">
                <a:solidFill>
                  <a:srgbClr val="94A3B8"/>
                </a:solidFill>
                <a:latin typeface="Inter Bold"/>
                <a:ea typeface="Inter Bold"/>
                <a:cs typeface="Inter Bold"/>
                <a:sym typeface="Inter Bold"/>
              </a:rPr>
              <a:t>给 PM/设计/老板看的"演示模式"——把后端结果包装成 C 端搜索结果页，用于产品演示。</a:t>
            </a:r>
          </a:p>
          <a:p>
            <a:pPr algn="l" marL="0" indent="0" lvl="0">
              <a:lnSpc>
                <a:spcPts val="3887"/>
              </a:lnSpc>
              <a:spcBef>
                <a:spcPct val="0"/>
              </a:spcBef>
            </a:pPr>
            <a:r>
              <a:rPr lang="en-US" b="true" sz="2025" strike="noStrike" u="none">
                <a:solidFill>
                  <a:srgbClr val="94A3B8"/>
                </a:solidFill>
                <a:latin typeface="Inter Bold"/>
                <a:ea typeface="Inter Bold"/>
                <a:cs typeface="Inter Bold"/>
                <a:sym typeface="Inter Bold"/>
              </a:rPr>
              <a:t>一键标记 badcase 并落盘到 outputs/badcases.jsonl，供日后 SFT 数据筛选。</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871788"/>
            <a:ext cx="5238826" cy="5543331"/>
            <a:chOff x="0" y="0"/>
            <a:chExt cx="6985102" cy="7391108"/>
          </a:xfrm>
        </p:grpSpPr>
        <p:sp>
          <p:nvSpPr>
            <p:cNvPr name="Freeform 5" id="5" descr="image.png"/>
            <p:cNvSpPr/>
            <p:nvPr/>
          </p:nvSpPr>
          <p:spPr>
            <a:xfrm flipH="false" flipV="false" rot="0">
              <a:off x="0" y="0"/>
              <a:ext cx="6985127" cy="7391146"/>
            </a:xfrm>
            <a:custGeom>
              <a:avLst/>
              <a:gdLst/>
              <a:ahLst/>
              <a:cxnLst/>
              <a:rect r="r" b="b" t="t" l="l"/>
              <a:pathLst>
                <a:path h="7391146" w="6985127">
                  <a:moveTo>
                    <a:pt x="0" y="0"/>
                  </a:moveTo>
                  <a:lnTo>
                    <a:pt x="6985127" y="0"/>
                  </a:lnTo>
                  <a:lnTo>
                    <a:pt x="6985127" y="7391146"/>
                  </a:lnTo>
                  <a:lnTo>
                    <a:pt x="0" y="7391146"/>
                  </a:lnTo>
                  <a:lnTo>
                    <a:pt x="0" y="0"/>
                  </a:lnTo>
                  <a:close/>
                </a:path>
              </a:pathLst>
            </a:custGeom>
            <a:blipFill>
              <a:blip r:embed="rId4"/>
              <a:stretch>
                <a:fillRect l="0" t="0" r="-85" b="0"/>
              </a:stretch>
            </a:blipFill>
          </p:spPr>
        </p:sp>
      </p:grpSp>
      <p:grpSp>
        <p:nvGrpSpPr>
          <p:cNvPr name="Group 6" id="6"/>
          <p:cNvGrpSpPr/>
          <p:nvPr/>
        </p:nvGrpSpPr>
        <p:grpSpPr>
          <a:xfrm rot="0">
            <a:off x="6524701" y="2871788"/>
            <a:ext cx="5238826" cy="5543331"/>
            <a:chOff x="0" y="0"/>
            <a:chExt cx="6985102" cy="7391108"/>
          </a:xfrm>
        </p:grpSpPr>
        <p:sp>
          <p:nvSpPr>
            <p:cNvPr name="Freeform 7" id="7" descr="image.png"/>
            <p:cNvSpPr/>
            <p:nvPr/>
          </p:nvSpPr>
          <p:spPr>
            <a:xfrm flipH="false" flipV="false" rot="0">
              <a:off x="0" y="0"/>
              <a:ext cx="6985127" cy="7391146"/>
            </a:xfrm>
            <a:custGeom>
              <a:avLst/>
              <a:gdLst/>
              <a:ahLst/>
              <a:cxnLst/>
              <a:rect r="r" b="b" t="t" l="l"/>
              <a:pathLst>
                <a:path h="7391146" w="6985127">
                  <a:moveTo>
                    <a:pt x="0" y="0"/>
                  </a:moveTo>
                  <a:lnTo>
                    <a:pt x="6985127" y="0"/>
                  </a:lnTo>
                  <a:lnTo>
                    <a:pt x="6985127" y="7391146"/>
                  </a:lnTo>
                  <a:lnTo>
                    <a:pt x="0" y="7391146"/>
                  </a:lnTo>
                  <a:lnTo>
                    <a:pt x="0" y="0"/>
                  </a:lnTo>
                  <a:close/>
                </a:path>
              </a:pathLst>
            </a:custGeom>
            <a:blipFill>
              <a:blip r:embed="rId5"/>
              <a:stretch>
                <a:fillRect l="0" t="0" r="-357" b="0"/>
              </a:stretch>
            </a:blipFill>
          </p:spPr>
        </p:sp>
      </p:grpSp>
      <p:grpSp>
        <p:nvGrpSpPr>
          <p:cNvPr name="Group 8" id="8"/>
          <p:cNvGrpSpPr/>
          <p:nvPr/>
        </p:nvGrpSpPr>
        <p:grpSpPr>
          <a:xfrm rot="0">
            <a:off x="12192152" y="2871788"/>
            <a:ext cx="5238826" cy="5543331"/>
            <a:chOff x="0" y="0"/>
            <a:chExt cx="6985102" cy="7391108"/>
          </a:xfrm>
        </p:grpSpPr>
        <p:sp>
          <p:nvSpPr>
            <p:cNvPr name="Freeform 9" id="9" descr="image.png"/>
            <p:cNvSpPr/>
            <p:nvPr/>
          </p:nvSpPr>
          <p:spPr>
            <a:xfrm flipH="false" flipV="false" rot="0">
              <a:off x="0" y="0"/>
              <a:ext cx="6985127" cy="7391146"/>
            </a:xfrm>
            <a:custGeom>
              <a:avLst/>
              <a:gdLst/>
              <a:ahLst/>
              <a:cxnLst/>
              <a:rect r="r" b="b" t="t" l="l"/>
              <a:pathLst>
                <a:path h="7391146" w="6985127">
                  <a:moveTo>
                    <a:pt x="0" y="0"/>
                  </a:moveTo>
                  <a:lnTo>
                    <a:pt x="6985127" y="0"/>
                  </a:lnTo>
                  <a:lnTo>
                    <a:pt x="6985127" y="7391146"/>
                  </a:lnTo>
                  <a:lnTo>
                    <a:pt x="0" y="7391146"/>
                  </a:lnTo>
                  <a:lnTo>
                    <a:pt x="0" y="0"/>
                  </a:lnTo>
                  <a:close/>
                </a:path>
              </a:pathLst>
            </a:custGeom>
            <a:blipFill>
              <a:blip r:embed="rId6"/>
              <a:stretch>
                <a:fillRect l="0" t="0" r="-357" b="0"/>
              </a:stretch>
            </a:blipFill>
          </p:spPr>
        </p:sp>
      </p:grpSp>
      <p:grpSp>
        <p:nvGrpSpPr>
          <p:cNvPr name="Group 10" id="10"/>
          <p:cNvGrpSpPr/>
          <p:nvPr/>
        </p:nvGrpSpPr>
        <p:grpSpPr>
          <a:xfrm rot="0">
            <a:off x="1300162" y="3314700"/>
            <a:ext cx="914400" cy="914400"/>
            <a:chOff x="0" y="0"/>
            <a:chExt cx="1219200" cy="1219200"/>
          </a:xfrm>
        </p:grpSpPr>
        <p:sp>
          <p:nvSpPr>
            <p:cNvPr name="Freeform 11" id="11"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7"/>
              <a:stretch>
                <a:fillRect l="0" t="0" r="0" b="0"/>
              </a:stretch>
            </a:blipFill>
          </p:spPr>
        </p:sp>
      </p:grpSp>
      <p:sp>
        <p:nvSpPr>
          <p:cNvPr name="TextBox 12" id="12"/>
          <p:cNvSpPr txBox="true"/>
          <p:nvPr/>
        </p:nvSpPr>
        <p:spPr>
          <a:xfrm rot="0">
            <a:off x="1300162" y="4495800"/>
            <a:ext cx="3510439"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基础过滤风险点改进</a:t>
            </a:r>
          </a:p>
        </p:txBody>
      </p:sp>
      <p:sp>
        <p:nvSpPr>
          <p:cNvPr name="TextBox 13" id="13"/>
          <p:cNvSpPr txBox="true"/>
          <p:nvPr/>
        </p:nvSpPr>
        <p:spPr>
          <a:xfrm rot="0">
            <a:off x="1300162" y="5086350"/>
            <a:ext cx="4353001" cy="2200056"/>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当前仍偶现 Query 噪声穿透，导致文案自然度折损。未来必须引入更前置且强有力的 Query 清洗模块；同时需在提示词层面严格约束模型过度规避品牌名的现象。</a:t>
            </a:r>
          </a:p>
        </p:txBody>
      </p:sp>
      <p:grpSp>
        <p:nvGrpSpPr>
          <p:cNvPr name="Group 14" id="14"/>
          <p:cNvGrpSpPr/>
          <p:nvPr/>
        </p:nvGrpSpPr>
        <p:grpSpPr>
          <a:xfrm rot="0">
            <a:off x="6967614" y="3314700"/>
            <a:ext cx="914400" cy="914400"/>
            <a:chOff x="0" y="0"/>
            <a:chExt cx="1219200" cy="1219200"/>
          </a:xfrm>
        </p:grpSpPr>
        <p:sp>
          <p:nvSpPr>
            <p:cNvPr name="Freeform 15" id="15"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8"/>
              <a:stretch>
                <a:fillRect l="0" t="0" r="-1562" b="0"/>
              </a:stretch>
            </a:blipFill>
          </p:spPr>
        </p:sp>
      </p:grpSp>
      <p:sp>
        <p:nvSpPr>
          <p:cNvPr name="TextBox 16" id="16"/>
          <p:cNvSpPr txBox="true"/>
          <p:nvPr/>
        </p:nvSpPr>
        <p:spPr>
          <a:xfrm rot="0">
            <a:off x="6967614" y="4495800"/>
            <a:ext cx="4570647" cy="990600"/>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构建 Evidence-aware Ranker</a:t>
            </a:r>
          </a:p>
        </p:txBody>
      </p:sp>
      <p:sp>
        <p:nvSpPr>
          <p:cNvPr name="TextBox 17" id="17"/>
          <p:cNvSpPr txBox="true"/>
          <p:nvPr/>
        </p:nvSpPr>
        <p:spPr>
          <a:xfrm rot="0">
            <a:off x="6967614" y="5557837"/>
            <a:ext cx="4353001" cy="2200056"/>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现有的复制校验较为基础。下一代 Ranker 系统应针对生成的商品属性和实体（品牌、功效标签）进行严格对比打分，对涉及产品虚构属性的候选组予以强力降权拦截。</a:t>
            </a:r>
          </a:p>
        </p:txBody>
      </p:sp>
      <p:grpSp>
        <p:nvGrpSpPr>
          <p:cNvPr name="Group 18" id="18"/>
          <p:cNvGrpSpPr/>
          <p:nvPr/>
        </p:nvGrpSpPr>
        <p:grpSpPr>
          <a:xfrm rot="0">
            <a:off x="12635065" y="3314700"/>
            <a:ext cx="914400" cy="914400"/>
            <a:chOff x="0" y="0"/>
            <a:chExt cx="1219200" cy="1219200"/>
          </a:xfrm>
        </p:grpSpPr>
        <p:sp>
          <p:nvSpPr>
            <p:cNvPr name="Freeform 19" id="19" descr="image.png"/>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lnTo>
                    <a:pt x="0" y="0"/>
                  </a:lnTo>
                  <a:close/>
                </a:path>
              </a:pathLst>
            </a:custGeom>
            <a:blipFill>
              <a:blip r:embed="rId9"/>
              <a:stretch>
                <a:fillRect l="0" t="0" r="-1562" b="0"/>
              </a:stretch>
            </a:blipFill>
          </p:spPr>
        </p:sp>
      </p:grpSp>
      <p:sp>
        <p:nvSpPr>
          <p:cNvPr name="TextBox 20" id="20"/>
          <p:cNvSpPr txBox="true"/>
          <p:nvPr/>
        </p:nvSpPr>
        <p:spPr>
          <a:xfrm rot="0">
            <a:off x="12635065" y="4495800"/>
            <a:ext cx="3720465" cy="519112"/>
          </a:xfrm>
          <a:prstGeom prst="rect">
            <a:avLst/>
          </a:prstGeom>
        </p:spPr>
        <p:txBody>
          <a:bodyPr anchor="t" rtlCol="false" tIns="0" lIns="0" bIns="0" rIns="0">
            <a:spAutoFit/>
          </a:bodyPr>
          <a:lstStyle/>
          <a:p>
            <a:pPr algn="l">
              <a:lnSpc>
                <a:spcPts val="3510"/>
              </a:lnSpc>
            </a:pPr>
            <a:r>
              <a:rPr lang="en-US" sz="2925">
                <a:solidFill>
                  <a:srgbClr val="F8FAFC"/>
                </a:solidFill>
                <a:latin typeface="Arimo"/>
                <a:ea typeface="Arimo"/>
                <a:cs typeface="Arimo"/>
                <a:sym typeface="Arimo"/>
              </a:rPr>
              <a:t>闭环本地化部署 (SFT)</a:t>
            </a:r>
          </a:p>
        </p:txBody>
      </p:sp>
      <p:sp>
        <p:nvSpPr>
          <p:cNvPr name="TextBox 21" id="21"/>
          <p:cNvSpPr txBox="true"/>
          <p:nvPr/>
        </p:nvSpPr>
        <p:spPr>
          <a:xfrm rot="0">
            <a:off x="12635065" y="5086350"/>
            <a:ext cx="4353001" cy="2611488"/>
          </a:xfrm>
          <a:prstGeom prst="rect">
            <a:avLst/>
          </a:prstGeom>
        </p:spPr>
        <p:txBody>
          <a:bodyPr anchor="t" rtlCol="false" tIns="0" lIns="0" bIns="0" rIns="0">
            <a:spAutoFit/>
          </a:bodyPr>
          <a:lstStyle/>
          <a:p>
            <a:pPr algn="l">
              <a:lnSpc>
                <a:spcPts val="3887"/>
              </a:lnSpc>
            </a:pPr>
            <a:r>
              <a:rPr lang="en-US" sz="2025">
                <a:solidFill>
                  <a:srgbClr val="94A3B8"/>
                </a:solidFill>
                <a:latin typeface="Inter"/>
                <a:ea typeface="Inter"/>
                <a:cs typeface="Inter"/>
                <a:sym typeface="Inter"/>
              </a:rPr>
              <a:t>目前的架构预留了本地模型接驳口。最后一步工程闭环将利用现阶段产出的大规模高质量 Pseudo-labels 进一步执行 SFT（监督微调），使得自托管小型模型具备匹敌在线商业 API 的生成力与更低的延迟。</a:t>
            </a:r>
          </a:p>
        </p:txBody>
      </p:sp>
      <p:grpSp>
        <p:nvGrpSpPr>
          <p:cNvPr name="Group 22" id="22"/>
          <p:cNvGrpSpPr/>
          <p:nvPr/>
        </p:nvGrpSpPr>
        <p:grpSpPr>
          <a:xfrm rot="0">
            <a:off x="1528762" y="3543300"/>
            <a:ext cx="457200" cy="457200"/>
            <a:chOff x="0" y="0"/>
            <a:chExt cx="609600" cy="609600"/>
          </a:xfrm>
        </p:grpSpPr>
        <p:sp>
          <p:nvSpPr>
            <p:cNvPr name="Freeform 23" id="23"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0" r="0" b="0"/>
              </a:stretch>
            </a:blipFill>
          </p:spPr>
        </p:sp>
      </p:grpSp>
      <p:grpSp>
        <p:nvGrpSpPr>
          <p:cNvPr name="Group 24" id="24"/>
          <p:cNvGrpSpPr/>
          <p:nvPr/>
        </p:nvGrpSpPr>
        <p:grpSpPr>
          <a:xfrm rot="0">
            <a:off x="7196214" y="3543300"/>
            <a:ext cx="457200" cy="457200"/>
            <a:chOff x="0" y="0"/>
            <a:chExt cx="609600" cy="609600"/>
          </a:xfrm>
        </p:grpSpPr>
        <p:sp>
          <p:nvSpPr>
            <p:cNvPr name="Freeform 25" id="25"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1"/>
              <a:stretch>
                <a:fillRect l="0" t="0" r="-3125" b="0"/>
              </a:stretch>
            </a:blipFill>
          </p:spPr>
        </p:sp>
      </p:grpSp>
      <p:grpSp>
        <p:nvGrpSpPr>
          <p:cNvPr name="Group 26" id="26"/>
          <p:cNvGrpSpPr/>
          <p:nvPr/>
        </p:nvGrpSpPr>
        <p:grpSpPr>
          <a:xfrm rot="0">
            <a:off x="12863665" y="3543300"/>
            <a:ext cx="457200" cy="457200"/>
            <a:chOff x="0" y="0"/>
            <a:chExt cx="609600" cy="609600"/>
          </a:xfrm>
        </p:grpSpPr>
        <p:sp>
          <p:nvSpPr>
            <p:cNvPr name="Freeform 27" id="27"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2"/>
              <a:stretch>
                <a:fillRect l="0" t="0" r="-3125" b="0"/>
              </a:stretch>
            </a:blipFill>
          </p:spPr>
        </p:sp>
      </p:grpSp>
      <p:sp>
        <p:nvSpPr>
          <p:cNvPr name="TextBox 28" id="28"/>
          <p:cNvSpPr txBox="true"/>
          <p:nvPr/>
        </p:nvSpPr>
        <p:spPr>
          <a:xfrm rot="0">
            <a:off x="1071562" y="828675"/>
            <a:ext cx="17177147" cy="600075"/>
          </a:xfrm>
          <a:prstGeom prst="rect">
            <a:avLst/>
          </a:prstGeom>
        </p:spPr>
        <p:txBody>
          <a:bodyPr anchor="t" rtlCol="false" tIns="0" lIns="0" bIns="0" rIns="0">
            <a:spAutoFit/>
          </a:bodyPr>
          <a:lstStyle/>
          <a:p>
            <a:pPr algn="l">
              <a:lnSpc>
                <a:spcPts val="5400"/>
              </a:lnSpc>
            </a:pPr>
            <a:r>
              <a:rPr lang="en-US" sz="4500">
                <a:solidFill>
                  <a:srgbClr val="06B6D4"/>
                </a:solidFill>
                <a:latin typeface="Arimo"/>
                <a:ea typeface="Arimo"/>
                <a:cs typeface="Arimo"/>
                <a:sym typeface="Arimo"/>
              </a:rPr>
              <a:t>待解风险点与后续优化路线图</a:t>
            </a:r>
          </a:p>
        </p:txBody>
      </p:sp>
      <p:grpSp>
        <p:nvGrpSpPr>
          <p:cNvPr name="Group 29" id="29"/>
          <p:cNvGrpSpPr/>
          <p:nvPr/>
        </p:nvGrpSpPr>
        <p:grpSpPr>
          <a:xfrm rot="0">
            <a:off x="857250" y="857250"/>
            <a:ext cx="85725" cy="571500"/>
            <a:chOff x="0" y="0"/>
            <a:chExt cx="114300" cy="762000"/>
          </a:xfrm>
        </p:grpSpPr>
        <p:sp>
          <p:nvSpPr>
            <p:cNvPr name="Freeform 30" id="30"/>
            <p:cNvSpPr/>
            <p:nvPr/>
          </p:nvSpPr>
          <p:spPr>
            <a:xfrm flipH="false" flipV="false" rot="0">
              <a:off x="0" y="0"/>
              <a:ext cx="114300" cy="762000"/>
            </a:xfrm>
            <a:custGeom>
              <a:avLst/>
              <a:gdLst/>
              <a:ahLst/>
              <a:cxnLst/>
              <a:rect r="r" b="b" t="t" l="l"/>
              <a:pathLst>
                <a:path h="762000" w="114300">
                  <a:moveTo>
                    <a:pt x="0" y="0"/>
                  </a:moveTo>
                  <a:lnTo>
                    <a:pt x="114300" y="0"/>
                  </a:lnTo>
                  <a:lnTo>
                    <a:pt x="114300" y="762000"/>
                  </a:lnTo>
                  <a:lnTo>
                    <a:pt x="0" y="762000"/>
                  </a:lnTo>
                  <a:close/>
                </a:path>
              </a:pathLst>
            </a:custGeom>
            <a:solidFill>
              <a:srgbClr val="3B82F6"/>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6572250" y="3750993"/>
            <a:ext cx="5143500" cy="1581150"/>
          </a:xfrm>
          <a:prstGeom prst="rect">
            <a:avLst/>
          </a:prstGeom>
        </p:spPr>
        <p:txBody>
          <a:bodyPr anchor="t" rtlCol="false" tIns="0" lIns="0" bIns="0" rIns="0">
            <a:spAutoFit/>
          </a:bodyPr>
          <a:lstStyle/>
          <a:p>
            <a:pPr algn="ctr">
              <a:lnSpc>
                <a:spcPts val="12150"/>
              </a:lnSpc>
            </a:pPr>
            <a:r>
              <a:rPr lang="en-US" b="true" sz="10125">
                <a:solidFill>
                  <a:srgbClr val="06B6D4"/>
                </a:solidFill>
                <a:latin typeface="Arimo Bold"/>
                <a:ea typeface="Arimo Bold"/>
                <a:cs typeface="Arimo Bold"/>
                <a:sym typeface="Arimo Bold"/>
              </a:rPr>
              <a:t>感谢观看</a:t>
            </a:r>
          </a:p>
        </p:txBody>
      </p:sp>
      <p:sp>
        <p:nvSpPr>
          <p:cNvPr name="TextBox 5" id="5"/>
          <p:cNvSpPr txBox="true"/>
          <p:nvPr/>
        </p:nvSpPr>
        <p:spPr>
          <a:xfrm rot="0">
            <a:off x="2867025" y="5523976"/>
            <a:ext cx="12858750" cy="601067"/>
          </a:xfrm>
          <a:prstGeom prst="rect">
            <a:avLst/>
          </a:prstGeom>
        </p:spPr>
        <p:txBody>
          <a:bodyPr anchor="t" rtlCol="false" tIns="0" lIns="0" bIns="0" rIns="0">
            <a:spAutoFit/>
          </a:bodyPr>
          <a:lstStyle/>
          <a:p>
            <a:pPr algn="ctr">
              <a:lnSpc>
                <a:spcPts val="5182"/>
              </a:lnSpc>
            </a:pPr>
            <a:r>
              <a:rPr lang="en-US" sz="2700">
                <a:solidFill>
                  <a:srgbClr val="94A3B8"/>
                </a:solidFill>
                <a:latin typeface="Inter"/>
                <a:ea typeface="Inter"/>
                <a:cs typeface="Inter"/>
                <a:sym typeface="Inter"/>
              </a:rPr>
              <a:t>小组成员：刘心玥  陆洋溢  李屿  权欣旖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DAHKxhOsYsw</dc:identifier>
  <dcterms:modified xsi:type="dcterms:W3CDTF">2011-08-01T06:04:30Z</dcterms:modified>
  <cp:revision>1</cp:revision>
  <dc:title>基于大语言模型的电商搜索广告 Query意图增强与动态创意生成系统.pptx</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AIGC">
    <vt:lpwstr>{"Label":"1","ContentProducer":"001191110105MA01AN806X00000","ProduceID":"DAHKxhOsYsw","ReservedCode1":"","ContentPropagator":"001191110105MA01AN806X00000","PropagateID":"DAHKxhOsYsw","ReservedCode2":""}</vt:lpwstr>
  </property>
</Properties>
</file>